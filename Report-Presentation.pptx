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9" r:id="rId4"/>
    <p:sldId id="261" r:id="rId5"/>
    <p:sldId id="272" r:id="rId6"/>
    <p:sldId id="273" r:id="rId7"/>
    <p:sldId id="274" r:id="rId8"/>
    <p:sldId id="262" r:id="rId9"/>
    <p:sldId id="263" r:id="rId10"/>
    <p:sldId id="264" r:id="rId11"/>
    <p:sldId id="280" r:id="rId12"/>
    <p:sldId id="281" r:id="rId13"/>
    <p:sldId id="265" r:id="rId14"/>
    <p:sldId id="276" r:id="rId15"/>
    <p:sldId id="277" r:id="rId16"/>
    <p:sldId id="266" r:id="rId17"/>
    <p:sldId id="278" r:id="rId18"/>
    <p:sldId id="279" r:id="rId19"/>
    <p:sldId id="275" r:id="rId20"/>
    <p:sldId id="270" r:id="rId21"/>
    <p:sldId id="271" r:id="rId22"/>
    <p:sldId id="260" r:id="rId23"/>
    <p:sldId id="26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742CDCE-1255-4C08-845D-7833BFBBD5A6}" type="slidenum">
              <a:rPr lang="en-US" smtClean="0"/>
              <a:t>5</a:t>
            </a:fld>
            <a:endParaRPr lang="en-US"/>
          </a:p>
        </p:txBody>
      </p:sp>
    </p:spTree>
    <p:extLst>
      <p:ext uri="{BB962C8B-B14F-4D97-AF65-F5344CB8AC3E}">
        <p14:creationId xmlns:p14="http://schemas.microsoft.com/office/powerpoint/2010/main" val="928469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54A-9FA6-3EFD-4B2F-F9FF46C10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1F835-45A1-F358-28A6-92A0A94E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C7C812-DCD5-F090-F417-4BCCC5408F60}"/>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E4C4D527-D177-4CDA-E01F-9ADFC28B2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5C7B-F73A-4F7A-F1F6-2FD32962A121}"/>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93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04F5-EC8F-5768-F6C7-19C2B1E02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CDD02C-D8CC-1C41-348C-4E4413DC5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7C954-94B6-BCA6-7F69-86048D7FC9BB}"/>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683E41DD-EBCA-665B-C882-AF80E53F7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77CB5-A0EB-303F-2A00-360042448C08}"/>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202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3532-860F-2946-DE35-2A48545F6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FF30B-8CF3-F1E3-2132-3E58121E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4B2CF-032D-5BD3-91DF-7CABB2971DF3}"/>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47126819-61B7-E0C3-CF94-506F7554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A1B24-B75C-AF68-978C-E4675A5C4A2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093834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606D-199C-9E5F-95E4-62D5F76A6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44D49-044E-6125-1F8F-50B99819E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3EBF0E-FE2B-463D-5539-028BDFE28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5B03F-F67E-C927-B6CB-D5530DEB4FFE}"/>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6" name="Footer Placeholder 5">
            <a:extLst>
              <a:ext uri="{FF2B5EF4-FFF2-40B4-BE49-F238E27FC236}">
                <a16:creationId xmlns:a16="http://schemas.microsoft.com/office/drawing/2014/main" id="{B867DBF1-757C-E3EE-C49C-BBDA3FB43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795EA-B619-ECEB-E75B-2D6C00D0E0A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59648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D7C1-67DC-B47E-B08C-D4111A7F4D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E5E81-1775-57EC-3DF0-D9579F2F2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BFEF-7AA0-7D30-641A-2C75AE938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69BD-930D-DB93-D5DC-9AE3DC8EB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D7AE59-2B55-FF88-A977-1FBEE270CF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3ABDB5-058F-CD20-713B-DE08505039FC}"/>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8" name="Footer Placeholder 7">
            <a:extLst>
              <a:ext uri="{FF2B5EF4-FFF2-40B4-BE49-F238E27FC236}">
                <a16:creationId xmlns:a16="http://schemas.microsoft.com/office/drawing/2014/main" id="{7A462824-B0B1-1C43-45E1-BAE34E8E8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98467-9C3D-B7CF-6153-C4D96AAF4F9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91244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85EF-0997-EC2E-88CE-ECE041F3C9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02B737-5232-D241-97F9-664C81D0EDA6}"/>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4" name="Footer Placeholder 3">
            <a:extLst>
              <a:ext uri="{FF2B5EF4-FFF2-40B4-BE49-F238E27FC236}">
                <a16:creationId xmlns:a16="http://schemas.microsoft.com/office/drawing/2014/main" id="{22C23243-E072-3EAC-0994-D2ED0DF9B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5390-4450-0842-90CC-5F8DE4396F9D}"/>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693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DD62C-B4EE-5431-EB3B-B5CC1EB572D2}"/>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3" name="Footer Placeholder 2">
            <a:extLst>
              <a:ext uri="{FF2B5EF4-FFF2-40B4-BE49-F238E27FC236}">
                <a16:creationId xmlns:a16="http://schemas.microsoft.com/office/drawing/2014/main" id="{C349ADA6-CCF4-ABBF-7FF7-76701AF0AB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86D616-415D-1DB8-ED62-C4A695E1295B}"/>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662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4AFC-BAFB-8845-E1F6-B32E94F27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E421F-5B26-F51E-6538-236A4C60FC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603222-6451-56B1-551A-C887EE8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1FAF1-91A4-259B-D735-9BFD6ACEC020}"/>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6" name="Footer Placeholder 5">
            <a:extLst>
              <a:ext uri="{FF2B5EF4-FFF2-40B4-BE49-F238E27FC236}">
                <a16:creationId xmlns:a16="http://schemas.microsoft.com/office/drawing/2014/main" id="{651B0125-E733-3E1D-D789-40CDE62F7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61DAD-637F-7D90-D37F-C1FE75AF377C}"/>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94770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0F5F-98FA-8E29-F7E3-92671347B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B5D18-9E16-59B2-9105-D153887FB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7B863-9BDF-26B7-8900-77F07F336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01D1A-B0F1-3025-383F-A3A188DC48B2}"/>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6" name="Footer Placeholder 5">
            <a:extLst>
              <a:ext uri="{FF2B5EF4-FFF2-40B4-BE49-F238E27FC236}">
                <a16:creationId xmlns:a16="http://schemas.microsoft.com/office/drawing/2014/main" id="{0FFB6EDA-5342-9A0C-A7B6-BFED9CD11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7DB7D-2A3D-31D5-E9E4-706E0217D08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30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3943-FC2E-097D-F190-8E1CCCD6FE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74F649-E827-C828-D519-8DDA0D6BC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99F7-9F20-5A94-A8ED-09769EF03D90}"/>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381705DF-9375-B30C-EE78-D59620D2F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4368B-916E-7BF2-0DEC-C59D1501FCE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6341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510BD9-501F-EB41-104A-5B1845378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991AD-5567-BCCA-0BAE-CE3A4020E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47764-A236-90CA-A883-5F221DE15140}"/>
              </a:ext>
            </a:extLst>
          </p:cNvPr>
          <p:cNvSpPr>
            <a:spLocks noGrp="1"/>
          </p:cNvSpPr>
          <p:nvPr>
            <p:ph type="dt" sz="half" idx="10"/>
          </p:nvPr>
        </p:nvSpPr>
        <p:spPr/>
        <p:txBody>
          <a:body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F9E2E0E7-34BB-C0CF-9343-6B6C95D7D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AB5FB-4A73-1515-9E03-9E73270488D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1323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5F9D8-5F70-CB05-4B2B-DC55E3D74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FE3C81-82FC-CD1C-694D-6308B0B17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4FB46-4862-9840-2AC6-5458A4F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B5EB-E661-40A1-A753-2118D6E3CDA9}" type="datetimeFigureOut">
              <a:rPr lang="en-US" smtClean="0"/>
              <a:t>11/9/2025</a:t>
            </a:fld>
            <a:endParaRPr lang="en-US"/>
          </a:p>
        </p:txBody>
      </p:sp>
      <p:sp>
        <p:nvSpPr>
          <p:cNvPr id="5" name="Footer Placeholder 4">
            <a:extLst>
              <a:ext uri="{FF2B5EF4-FFF2-40B4-BE49-F238E27FC236}">
                <a16:creationId xmlns:a16="http://schemas.microsoft.com/office/drawing/2014/main" id="{EC834C17-058D-A053-3A77-3B6BA4C83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3DC0DD-8301-4833-8CA3-37B4BB86D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57038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hyperlink" Target="https://thesai.org/Publications/ViewPaper?Volume=11&amp;Issu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471948" y="258800"/>
            <a:ext cx="11523407" cy="2949524"/>
          </a:xfrm>
        </p:spPr>
        <p:txBody>
          <a:bodyPr anchor="ctr">
            <a:normAutofit/>
          </a:bodyPr>
          <a:lstStyle/>
          <a:p>
            <a:pPr>
              <a:lnSpc>
                <a:spcPct val="100000"/>
              </a:lnSpc>
            </a:pPr>
            <a:r>
              <a:rPr lang="en-US" sz="4000" dirty="0">
                <a:solidFill>
                  <a:schemeClr val="accent1">
                    <a:lumMod val="75000"/>
                  </a:schemeClr>
                </a:solidFill>
              </a:rPr>
              <a:t>Credit Card Fraud Detection Using Machine Learning</a:t>
            </a:r>
            <a:br>
              <a:rPr lang="en-US" dirty="0"/>
            </a:br>
            <a:endParaRPr lang="en-US" dirty="0"/>
          </a:p>
        </p:txBody>
      </p:sp>
      <p:sp>
        <p:nvSpPr>
          <p:cNvPr id="7" name="Subtitle 6">
            <a:extLst>
              <a:ext uri="{FF2B5EF4-FFF2-40B4-BE49-F238E27FC236}">
                <a16:creationId xmlns:a16="http://schemas.microsoft.com/office/drawing/2014/main" id="{C5455D1F-D8A4-E6B1-E17A-28C89F585869}"/>
              </a:ext>
            </a:extLst>
          </p:cNvPr>
          <p:cNvSpPr>
            <a:spLocks noGrp="1"/>
          </p:cNvSpPr>
          <p:nvPr>
            <p:ph type="subTitle" idx="1"/>
          </p:nvPr>
        </p:nvSpPr>
        <p:spPr>
          <a:xfrm>
            <a:off x="3256504" y="5053781"/>
            <a:ext cx="4905080" cy="2037033"/>
          </a:xfrm>
        </p:spPr>
        <p:txBody>
          <a:bodyPr>
            <a:normAutofit/>
          </a:bodyPr>
          <a:lstStyle/>
          <a:p>
            <a:r>
              <a:rPr lang="en-IN" b="1" dirty="0">
                <a:latin typeface="Bell MT" panose="02020503060305020303" pitchFamily="18" charset="0"/>
              </a:rPr>
              <a:t>Present</a:t>
            </a:r>
            <a:r>
              <a:rPr lang="en-IN" dirty="0">
                <a:latin typeface="Bodoni MT Black" panose="02070A03080606020203" pitchFamily="18" charset="0"/>
              </a:rPr>
              <a:t> </a:t>
            </a:r>
            <a:r>
              <a:rPr lang="en-IN" b="1" dirty="0">
                <a:latin typeface="Bell MT" panose="02020503060305020303" pitchFamily="18" charset="0"/>
              </a:rPr>
              <a:t>By</a:t>
            </a:r>
            <a:endParaRPr lang="en-US" b="1" dirty="0">
              <a:latin typeface="Bell MT" panose="02020503060305020303" pitchFamily="18" charset="0"/>
            </a:endParaRPr>
          </a:p>
          <a:p>
            <a:pPr>
              <a:lnSpc>
                <a:spcPct val="100000"/>
              </a:lnSpc>
            </a:pPr>
            <a:br>
              <a:rPr lang="en-US" sz="100" dirty="0"/>
            </a:br>
            <a:r>
              <a:rPr lang="en-US" dirty="0"/>
              <a:t>Sandeep Gupta</a:t>
            </a:r>
          </a:p>
          <a:p>
            <a:pPr>
              <a:lnSpc>
                <a:spcPct val="100000"/>
              </a:lnSpc>
            </a:pPr>
            <a:r>
              <a:rPr lang="en-US" dirty="0"/>
              <a:t>2022ug1100, CSE-2022-26</a:t>
            </a:r>
          </a:p>
        </p:txBody>
      </p:sp>
      <p:sp>
        <p:nvSpPr>
          <p:cNvPr id="8" name="TextBox 7">
            <a:extLst>
              <a:ext uri="{FF2B5EF4-FFF2-40B4-BE49-F238E27FC236}">
                <a16:creationId xmlns:a16="http://schemas.microsoft.com/office/drawing/2014/main" id="{FBFBF161-CE22-325C-47F5-221EA090B061}"/>
              </a:ext>
            </a:extLst>
          </p:cNvPr>
          <p:cNvSpPr txBox="1"/>
          <p:nvPr/>
        </p:nvSpPr>
        <p:spPr>
          <a:xfrm>
            <a:off x="3896411" y="2017811"/>
            <a:ext cx="3625266" cy="2953116"/>
          </a:xfrm>
          <a:prstGeom prst="rect">
            <a:avLst/>
          </a:prstGeom>
          <a:noFill/>
        </p:spPr>
        <p:txBody>
          <a:bodyPr wrap="square" rtlCol="0">
            <a:spAutoFit/>
          </a:bodyPr>
          <a:lstStyle/>
          <a:p>
            <a:pPr algn="ctr">
              <a:lnSpc>
                <a:spcPct val="150000"/>
              </a:lnSpc>
            </a:pPr>
            <a:r>
              <a:rPr lang="en-US" sz="3200" b="1" dirty="0">
                <a:latin typeface="Bell MT" panose="02020503060305020303" pitchFamily="18" charset="0"/>
              </a:rPr>
              <a:t>Supervisor</a:t>
            </a:r>
            <a:endParaRPr lang="en-US" sz="2000" b="1" dirty="0">
              <a:latin typeface="Bell MT" panose="02020503060305020303" pitchFamily="18" charset="0"/>
            </a:endParaRPr>
          </a:p>
          <a:p>
            <a:pPr algn="ctr">
              <a:lnSpc>
                <a:spcPct val="150000"/>
              </a:lnSpc>
            </a:pPr>
            <a:r>
              <a:rPr lang="en-US" sz="2000" b="1" dirty="0">
                <a:latin typeface="+mj-lt"/>
              </a:rPr>
              <a:t>Mr. Jayadeep Pati</a:t>
            </a:r>
          </a:p>
          <a:p>
            <a:pPr algn="ctr">
              <a:lnSpc>
                <a:spcPct val="150000"/>
              </a:lnSpc>
            </a:pPr>
            <a:r>
              <a:rPr lang="en-US" b="1" dirty="0"/>
              <a:t>Assistant Professor, Registrar In-Charge and Associate Dean (Academics &amp; Faculty Affairs) </a:t>
            </a:r>
            <a:endParaRPr lang="en-IN" dirty="0"/>
          </a:p>
          <a:p>
            <a:pPr algn="ctr">
              <a:lnSpc>
                <a:spcPct val="150000"/>
              </a:lnSpc>
            </a:pPr>
            <a:endParaRPr lang="en-US" sz="2000" b="1" dirty="0">
              <a:latin typeface="+mj-lt"/>
            </a:endParaRPr>
          </a:p>
        </p:txBody>
      </p:sp>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B703-C139-2108-FCA5-CE103D84D414}"/>
              </a:ext>
            </a:extLst>
          </p:cNvPr>
          <p:cNvSpPr>
            <a:spLocks noGrp="1"/>
          </p:cNvSpPr>
          <p:nvPr>
            <p:ph type="title"/>
          </p:nvPr>
        </p:nvSpPr>
        <p:spPr/>
        <p:txBody>
          <a:bodyPr/>
          <a:lstStyle/>
          <a:p>
            <a:r>
              <a:rPr lang="en-US" dirty="0">
                <a:solidFill>
                  <a:schemeClr val="accent1">
                    <a:lumMod val="75000"/>
                  </a:schemeClr>
                </a:solidFill>
              </a:rPr>
              <a:t>Overview</a:t>
            </a:r>
          </a:p>
        </p:txBody>
      </p:sp>
      <p:sp>
        <p:nvSpPr>
          <p:cNvPr id="3" name="Content Placeholder 2">
            <a:extLst>
              <a:ext uri="{FF2B5EF4-FFF2-40B4-BE49-F238E27FC236}">
                <a16:creationId xmlns:a16="http://schemas.microsoft.com/office/drawing/2014/main" id="{E7A57057-75EB-947C-2AB0-4B59E454ECA1}"/>
              </a:ext>
            </a:extLst>
          </p:cNvPr>
          <p:cNvSpPr>
            <a:spLocks noGrp="1"/>
          </p:cNvSpPr>
          <p:nvPr>
            <p:ph idx="1"/>
          </p:nvPr>
        </p:nvSpPr>
        <p:spPr/>
        <p:txBody>
          <a:bodyPr>
            <a:normAutofit/>
          </a:bodyPr>
          <a:lstStyle/>
          <a:p>
            <a:pPr marL="0" indent="0" algn="just">
              <a:lnSpc>
                <a:spcPct val="100000"/>
              </a:lnSpc>
              <a:buNone/>
            </a:pPr>
            <a:r>
              <a:rPr lang="en-US" sz="2000" b="1"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dirty="0">
                <a:solidFill>
                  <a:schemeClr val="accent1">
                    <a:lumMod val="75000"/>
                  </a:schemeClr>
                </a:solidFill>
              </a:rPr>
              <a:t>Data</a:t>
            </a:r>
            <a:r>
              <a:rPr lang="en-US" dirty="0"/>
              <a:t> </a:t>
            </a:r>
            <a:r>
              <a:rPr lang="en-US" dirty="0">
                <a:solidFill>
                  <a:schemeClr val="accent1">
                    <a:lumMod val="75000"/>
                  </a:schemeClr>
                </a:solidFill>
              </a:rPr>
              <a:t>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48032" y="1366684"/>
            <a:ext cx="10515600" cy="6223819"/>
          </a:xfrm>
        </p:spPr>
        <p:txBody>
          <a:bodyPr>
            <a:normAutofit/>
          </a:bodyPr>
          <a:lstStyle/>
          <a:p>
            <a:r>
              <a:rPr lang="en-US" sz="1800" b="1" dirty="0">
                <a:latin typeface="Times New Roman" panose="02020603050405020304" pitchFamily="18" charset="0"/>
                <a:cs typeface="Times New Roman" panose="02020603050405020304" pitchFamily="18" charset="0"/>
              </a:rPr>
              <a:t>Data Description: </a:t>
            </a:r>
            <a:r>
              <a:rPr lang="en-US" sz="1600" dirty="0">
                <a:latin typeface="Times New Roman" panose="02020603050405020304" pitchFamily="18" charset="0"/>
                <a:cs typeface="Times New Roman" panose="02020603050405020304" pitchFamily="18" charset="0"/>
              </a:rPr>
              <a:t>The dataset was retrieved from an open-source website, Kaggle.com</a:t>
            </a:r>
          </a:p>
          <a:p>
            <a:pPr fontAlgn="base"/>
            <a:r>
              <a:rPr lang="en-US" sz="1600" dirty="0"/>
              <a:t>The project aims to predict fraudulent credit card transactions using machine learning models. This is crucial from the bank’s as well as the customer’s perspective. The banks cannot afford to lose their customers’ money to fraudsters. Every fraud is a loss to the bank as the bank is responsible for the fraudulent transactions.</a:t>
            </a:r>
          </a:p>
          <a:p>
            <a:pPr fontAlgn="base"/>
            <a:r>
              <a:rPr lang="en-US" sz="1600" dirty="0"/>
              <a:t>The dataset contains transactions made over a period of two days by credit cards in September 2013 by European cardholders. This dataset presents transactions that occurred in two days, where we have 492 frauds out of 284,807 transactions. The dataset is highly unbalanced, the positive class (frauds) accounts for 0.172% of all transactions. We need to take care of the data imbalance while building the model and come up with the best model by trying various algorithms.</a:t>
            </a:r>
          </a:p>
          <a:p>
            <a:endParaRPr lang="en-US" sz="10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6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600" dirty="0">
                <a:latin typeface="Times New Roman" panose="02020603050405020304" pitchFamily="18" charset="0"/>
                <a:cs typeface="Times New Roman" panose="02020603050405020304" pitchFamily="18" charset="0"/>
              </a:rPr>
              <a:t>Amount : Which is the amount of each transaction</a:t>
            </a:r>
          </a:p>
          <a:p>
            <a:pPr lvl="1"/>
            <a:r>
              <a:rPr lang="en-US" sz="1600" dirty="0">
                <a:latin typeface="Times New Roman" panose="02020603050405020304" pitchFamily="18" charset="0"/>
                <a:cs typeface="Times New Roman" panose="02020603050405020304" pitchFamily="18" charset="0"/>
              </a:rPr>
              <a:t>Class : which contains binary variables where</a:t>
            </a:r>
            <a:r>
              <a:rPr lang="en-US" sz="1600" b="1" dirty="0">
                <a:latin typeface="Times New Roman" panose="02020603050405020304" pitchFamily="18" charset="0"/>
                <a:cs typeface="Times New Roman" panose="02020603050405020304" pitchFamily="18" charset="0"/>
              </a:rPr>
              <a:t> 1 </a:t>
            </a:r>
            <a:r>
              <a:rPr lang="en-US" sz="1600" dirty="0">
                <a:latin typeface="Times New Roman" panose="02020603050405020304" pitchFamily="18" charset="0"/>
                <a:cs typeface="Times New Roman" panose="02020603050405020304" pitchFamily="18" charset="0"/>
              </a:rPr>
              <a:t>is a case of fraudulent transaction, and </a:t>
            </a:r>
            <a:r>
              <a:rPr lang="en-US" sz="1600" b="1" dirty="0">
                <a:latin typeface="Times New Roman" panose="02020603050405020304" pitchFamily="18" charset="0"/>
                <a:cs typeface="Times New Roman" panose="02020603050405020304" pitchFamily="18" charset="0"/>
              </a:rPr>
              <a:t>0</a:t>
            </a:r>
            <a:r>
              <a:rPr lang="en-US" sz="16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600" dirty="0">
              <a:latin typeface="Times New Roman" panose="02020603050405020304" pitchFamily="18" charset="0"/>
              <a:cs typeface="Times New Roman" panose="02020603050405020304" pitchFamily="18" charset="0"/>
            </a:endParaRPr>
          </a:p>
          <a:p>
            <a:r>
              <a:rPr lang="fi-FI" sz="1800" b="1" dirty="0">
                <a:latin typeface="Times New Roman" panose="02020603050405020304" pitchFamily="18" charset="0"/>
                <a:cs typeface="Times New Roman" panose="02020603050405020304" pitchFamily="18" charset="0"/>
              </a:rPr>
              <a:t>Dataset : </a:t>
            </a:r>
            <a:r>
              <a:rPr lang="fi-FI" sz="1800" dirty="0">
                <a:latin typeface="Times New Roman" panose="02020603050405020304" pitchFamily="18" charset="0"/>
                <a:cs typeface="Times New Roman" panose="02020603050405020304" pitchFamily="18" charset="0"/>
              </a:rPr>
              <a:t>https://www.kaggle.com/datasets/mlg-ulb/creditcardfraud</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dirty="0"/>
              <a:t>Data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7FCB73-09D0-B6FB-3F1A-6D8D16AA9353}"/>
              </a:ext>
            </a:extLst>
          </p:cNvPr>
          <p:cNvSpPr txBox="1"/>
          <p:nvPr/>
        </p:nvSpPr>
        <p:spPr>
          <a:xfrm>
            <a:off x="395748" y="287283"/>
            <a:ext cx="9289026" cy="1200329"/>
          </a:xfrm>
          <a:prstGeom prst="rect">
            <a:avLst/>
          </a:prstGeom>
          <a:noFill/>
        </p:spPr>
        <p:txBody>
          <a:bodyPr wrap="square">
            <a:spAutoFit/>
          </a:bodyPr>
          <a:lstStyle/>
          <a:p>
            <a:pPr algn="l" fontAlgn="base">
              <a:spcBef>
                <a:spcPts val="2250"/>
              </a:spcBef>
              <a:spcAft>
                <a:spcPts val="750"/>
              </a:spcAft>
              <a:buNone/>
            </a:pPr>
            <a:r>
              <a:rPr lang="en-US" sz="3600" b="1" i="0" dirty="0">
                <a:solidFill>
                  <a:srgbClr val="3A3A3A"/>
                </a:solidFill>
                <a:effectLst/>
                <a:latin typeface="-apple-system"/>
              </a:rPr>
              <a:t>Steps in Implementing Credit Card Fraud Detection:</a:t>
            </a:r>
          </a:p>
        </p:txBody>
      </p:sp>
      <p:sp>
        <p:nvSpPr>
          <p:cNvPr id="7" name="TextBox 6">
            <a:extLst>
              <a:ext uri="{FF2B5EF4-FFF2-40B4-BE49-F238E27FC236}">
                <a16:creationId xmlns:a16="http://schemas.microsoft.com/office/drawing/2014/main" id="{0BD433B5-7622-D7B0-E6FD-121C1923B5F8}"/>
              </a:ext>
            </a:extLst>
          </p:cNvPr>
          <p:cNvSpPr txBox="1"/>
          <p:nvPr/>
        </p:nvSpPr>
        <p:spPr>
          <a:xfrm>
            <a:off x="481781" y="1633454"/>
            <a:ext cx="12260825" cy="369332"/>
          </a:xfrm>
          <a:prstGeom prst="rect">
            <a:avLst/>
          </a:prstGeom>
          <a:noFill/>
        </p:spPr>
        <p:txBody>
          <a:bodyPr wrap="square">
            <a:spAutoFit/>
          </a:bodyPr>
          <a:lstStyle/>
          <a:p>
            <a:pPr algn="l" fontAlgn="base">
              <a:buNone/>
            </a:pPr>
            <a:r>
              <a:rPr lang="en-US" b="1" i="0" dirty="0">
                <a:solidFill>
                  <a:srgbClr val="3A3A3A"/>
                </a:solidFill>
                <a:effectLst/>
                <a:latin typeface="-apple-system"/>
              </a:rPr>
              <a:t>The steps are broadly divided into the below steps. The sub-steps are also listed while we approach each of the steps.</a:t>
            </a:r>
          </a:p>
        </p:txBody>
      </p:sp>
      <p:sp>
        <p:nvSpPr>
          <p:cNvPr id="9" name="TextBox 8">
            <a:extLst>
              <a:ext uri="{FF2B5EF4-FFF2-40B4-BE49-F238E27FC236}">
                <a16:creationId xmlns:a16="http://schemas.microsoft.com/office/drawing/2014/main" id="{2737B9E9-5CEA-46ED-F086-0DCD0C8F4024}"/>
              </a:ext>
            </a:extLst>
          </p:cNvPr>
          <p:cNvSpPr txBox="1"/>
          <p:nvPr/>
        </p:nvSpPr>
        <p:spPr>
          <a:xfrm>
            <a:off x="481781" y="2233619"/>
            <a:ext cx="8849032" cy="369332"/>
          </a:xfrm>
          <a:prstGeom prst="rect">
            <a:avLst/>
          </a:prstGeom>
          <a:noFill/>
        </p:spPr>
        <p:txBody>
          <a:bodyPr wrap="square">
            <a:spAutoFit/>
          </a:bodyPr>
          <a:lstStyle/>
          <a:p>
            <a:pPr algn="l" fontAlgn="base"/>
            <a:r>
              <a:rPr lang="en-US" b="0" i="0" dirty="0">
                <a:solidFill>
                  <a:srgbClr val="3A3A3A"/>
                </a:solidFill>
                <a:effectLst/>
              </a:rPr>
              <a:t>1. Reading, understanding and </a:t>
            </a:r>
            <a:r>
              <a:rPr lang="en-IN" b="0" i="0" dirty="0">
                <a:solidFill>
                  <a:srgbClr val="3A3A3A"/>
                </a:solidFill>
                <a:effectLst/>
              </a:rPr>
              <a:t>visualizing</a:t>
            </a:r>
            <a:r>
              <a:rPr lang="en-US" b="0" i="0" dirty="0">
                <a:solidFill>
                  <a:srgbClr val="3A3A3A"/>
                </a:solidFill>
                <a:effectLst/>
              </a:rPr>
              <a:t> the data</a:t>
            </a:r>
          </a:p>
        </p:txBody>
      </p:sp>
      <p:sp>
        <p:nvSpPr>
          <p:cNvPr id="11" name="TextBox 10">
            <a:extLst>
              <a:ext uri="{FF2B5EF4-FFF2-40B4-BE49-F238E27FC236}">
                <a16:creationId xmlns:a16="http://schemas.microsoft.com/office/drawing/2014/main" id="{99E9898A-B4D4-647B-FAAA-5EA4C530BEFF}"/>
              </a:ext>
            </a:extLst>
          </p:cNvPr>
          <p:cNvSpPr txBox="1"/>
          <p:nvPr/>
        </p:nvSpPr>
        <p:spPr>
          <a:xfrm>
            <a:off x="-403123" y="2759585"/>
            <a:ext cx="9733936" cy="369332"/>
          </a:xfrm>
          <a:prstGeom prst="rect">
            <a:avLst/>
          </a:prstGeom>
          <a:noFill/>
        </p:spPr>
        <p:txBody>
          <a:bodyPr wrap="square">
            <a:spAutoFit/>
          </a:bodyPr>
          <a:lstStyle/>
          <a:p>
            <a:pPr lvl="2" fontAlgn="base"/>
            <a:r>
              <a:rPr lang="en-US" b="0" i="0" dirty="0">
                <a:solidFill>
                  <a:srgbClr val="3A3A3A"/>
                </a:solidFill>
                <a:effectLst/>
                <a:latin typeface="-apple-system"/>
              </a:rPr>
              <a:t>2. Preparing the data for modelling</a:t>
            </a:r>
          </a:p>
        </p:txBody>
      </p:sp>
      <p:sp>
        <p:nvSpPr>
          <p:cNvPr id="13" name="TextBox 12">
            <a:extLst>
              <a:ext uri="{FF2B5EF4-FFF2-40B4-BE49-F238E27FC236}">
                <a16:creationId xmlns:a16="http://schemas.microsoft.com/office/drawing/2014/main" id="{9ADB8720-F62C-E69D-3ABB-2AB050454965}"/>
              </a:ext>
            </a:extLst>
          </p:cNvPr>
          <p:cNvSpPr txBox="1"/>
          <p:nvPr/>
        </p:nvSpPr>
        <p:spPr>
          <a:xfrm>
            <a:off x="-403123" y="3249283"/>
            <a:ext cx="6572864" cy="369332"/>
          </a:xfrm>
          <a:prstGeom prst="rect">
            <a:avLst/>
          </a:prstGeom>
          <a:noFill/>
        </p:spPr>
        <p:txBody>
          <a:bodyPr wrap="square">
            <a:spAutoFit/>
          </a:bodyPr>
          <a:lstStyle/>
          <a:p>
            <a:pPr lvl="2" fontAlgn="base"/>
            <a:r>
              <a:rPr lang="en-US" b="0" i="0" dirty="0">
                <a:solidFill>
                  <a:srgbClr val="3A3A3A"/>
                </a:solidFill>
                <a:effectLst/>
                <a:latin typeface="-apple-system"/>
              </a:rPr>
              <a:t>3. Building the model</a:t>
            </a:r>
          </a:p>
        </p:txBody>
      </p:sp>
      <p:sp>
        <p:nvSpPr>
          <p:cNvPr id="15" name="TextBox 14">
            <a:extLst>
              <a:ext uri="{FF2B5EF4-FFF2-40B4-BE49-F238E27FC236}">
                <a16:creationId xmlns:a16="http://schemas.microsoft.com/office/drawing/2014/main" id="{66E5BDD7-F6DF-347F-A7BD-A30EDCE64A01}"/>
              </a:ext>
            </a:extLst>
          </p:cNvPr>
          <p:cNvSpPr txBox="1"/>
          <p:nvPr/>
        </p:nvSpPr>
        <p:spPr>
          <a:xfrm>
            <a:off x="481781" y="3701050"/>
            <a:ext cx="6572864" cy="369332"/>
          </a:xfrm>
          <a:prstGeom prst="rect">
            <a:avLst/>
          </a:prstGeom>
          <a:noFill/>
        </p:spPr>
        <p:txBody>
          <a:bodyPr wrap="square">
            <a:spAutoFit/>
          </a:bodyPr>
          <a:lstStyle/>
          <a:p>
            <a:pPr algn="l" fontAlgn="base"/>
            <a:r>
              <a:rPr lang="en-US" b="0" i="0" dirty="0">
                <a:solidFill>
                  <a:srgbClr val="3A3A3A"/>
                </a:solidFill>
                <a:effectLst/>
                <a:latin typeface="-apple-system"/>
              </a:rPr>
              <a:t>4. Evaluate the model</a:t>
            </a:r>
          </a:p>
        </p:txBody>
      </p:sp>
    </p:spTree>
    <p:extLst>
      <p:ext uri="{BB962C8B-B14F-4D97-AF65-F5344CB8AC3E}">
        <p14:creationId xmlns:p14="http://schemas.microsoft.com/office/powerpoint/2010/main" val="402356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E9CFE5-FB4B-BAFD-B07B-A6E2E7B3296A}"/>
              </a:ext>
            </a:extLst>
          </p:cNvPr>
          <p:cNvSpPr txBox="1"/>
          <p:nvPr/>
        </p:nvSpPr>
        <p:spPr>
          <a:xfrm>
            <a:off x="560439" y="542921"/>
            <a:ext cx="11287432" cy="646331"/>
          </a:xfrm>
          <a:prstGeom prst="rect">
            <a:avLst/>
          </a:prstGeom>
          <a:noFill/>
        </p:spPr>
        <p:txBody>
          <a:bodyPr wrap="square">
            <a:spAutoFit/>
          </a:bodyPr>
          <a:lstStyle/>
          <a:p>
            <a:pPr algn="l" fontAlgn="base">
              <a:spcBef>
                <a:spcPts val="2250"/>
              </a:spcBef>
              <a:spcAft>
                <a:spcPts val="750"/>
              </a:spcAft>
              <a:buNone/>
            </a:pPr>
            <a:r>
              <a:rPr lang="en-US" sz="3600" b="1" i="0" dirty="0">
                <a:solidFill>
                  <a:srgbClr val="3A3A3A"/>
                </a:solidFill>
                <a:effectLst/>
                <a:latin typeface="-apple-system"/>
              </a:rPr>
              <a:t>We have used a total of </a:t>
            </a:r>
            <a:r>
              <a:rPr lang="en-US" sz="3600" b="1" dirty="0">
                <a:solidFill>
                  <a:srgbClr val="3A3A3A"/>
                </a:solidFill>
                <a:latin typeface="-apple-system"/>
              </a:rPr>
              <a:t>Four</a:t>
            </a:r>
            <a:r>
              <a:rPr lang="en-US" sz="3600" b="1" i="0" dirty="0">
                <a:solidFill>
                  <a:srgbClr val="3A3A3A"/>
                </a:solidFill>
                <a:effectLst/>
                <a:latin typeface="-apple-system"/>
              </a:rPr>
              <a:t> algorithms in our project</a:t>
            </a:r>
          </a:p>
        </p:txBody>
      </p:sp>
      <p:sp>
        <p:nvSpPr>
          <p:cNvPr id="7" name="TextBox 6">
            <a:extLst>
              <a:ext uri="{FF2B5EF4-FFF2-40B4-BE49-F238E27FC236}">
                <a16:creationId xmlns:a16="http://schemas.microsoft.com/office/drawing/2014/main" id="{EE699D6C-1204-268A-0E4D-7830CC1A825E}"/>
              </a:ext>
            </a:extLst>
          </p:cNvPr>
          <p:cNvSpPr txBox="1"/>
          <p:nvPr/>
        </p:nvSpPr>
        <p:spPr>
          <a:xfrm>
            <a:off x="560439" y="1546043"/>
            <a:ext cx="6096000" cy="369332"/>
          </a:xfrm>
          <a:prstGeom prst="rect">
            <a:avLst/>
          </a:prstGeom>
          <a:noFill/>
        </p:spPr>
        <p:txBody>
          <a:bodyPr wrap="square">
            <a:spAutoFit/>
          </a:bodyPr>
          <a:lstStyle/>
          <a:p>
            <a:pPr algn="l" fontAlgn="base">
              <a:buFont typeface="+mj-lt"/>
              <a:buAutoNum type="arabicPeriod"/>
            </a:pPr>
            <a:r>
              <a:rPr lang="en-US" b="0" i="0" dirty="0">
                <a:solidFill>
                  <a:srgbClr val="3A3A3A"/>
                </a:solidFill>
                <a:effectLst/>
                <a:latin typeface="-apple-system"/>
              </a:rPr>
              <a:t>Logistic Regression</a:t>
            </a:r>
          </a:p>
        </p:txBody>
      </p:sp>
      <p:sp>
        <p:nvSpPr>
          <p:cNvPr id="9" name="TextBox 8">
            <a:extLst>
              <a:ext uri="{FF2B5EF4-FFF2-40B4-BE49-F238E27FC236}">
                <a16:creationId xmlns:a16="http://schemas.microsoft.com/office/drawing/2014/main" id="{21A0FB67-756A-3440-518C-19E0045FFD19}"/>
              </a:ext>
            </a:extLst>
          </p:cNvPr>
          <p:cNvSpPr txBox="1"/>
          <p:nvPr/>
        </p:nvSpPr>
        <p:spPr>
          <a:xfrm>
            <a:off x="-1248698" y="3244334"/>
            <a:ext cx="6096000" cy="369332"/>
          </a:xfrm>
          <a:prstGeom prst="rect">
            <a:avLst/>
          </a:prstGeom>
          <a:noFill/>
        </p:spPr>
        <p:txBody>
          <a:bodyPr wrap="square">
            <a:spAutoFit/>
          </a:bodyPr>
          <a:lstStyle/>
          <a:p>
            <a:pPr lvl="4" fontAlgn="base"/>
            <a:r>
              <a:rPr lang="en-US" dirty="0">
                <a:solidFill>
                  <a:srgbClr val="3A3A3A"/>
                </a:solidFill>
                <a:latin typeface="-apple-system"/>
              </a:rPr>
              <a:t>4</a:t>
            </a:r>
            <a:r>
              <a:rPr lang="en-US" b="0" i="0" dirty="0">
                <a:solidFill>
                  <a:srgbClr val="3A3A3A"/>
                </a:solidFill>
                <a:effectLst/>
                <a:latin typeface="-apple-system"/>
              </a:rPr>
              <a:t>. K-Nearest </a:t>
            </a:r>
            <a:r>
              <a:rPr lang="en-IN" b="0" i="0" dirty="0">
                <a:solidFill>
                  <a:srgbClr val="3A3A3A"/>
                </a:solidFill>
                <a:effectLst/>
                <a:latin typeface="-apple-system"/>
              </a:rPr>
              <a:t>Neighbour</a:t>
            </a:r>
            <a:endParaRPr lang="en-US" b="0" i="0" dirty="0">
              <a:solidFill>
                <a:srgbClr val="3A3A3A"/>
              </a:solidFill>
              <a:effectLst/>
              <a:latin typeface="-apple-system"/>
            </a:endParaRPr>
          </a:p>
        </p:txBody>
      </p:sp>
      <p:sp>
        <p:nvSpPr>
          <p:cNvPr id="11" name="TextBox 10">
            <a:extLst>
              <a:ext uri="{FF2B5EF4-FFF2-40B4-BE49-F238E27FC236}">
                <a16:creationId xmlns:a16="http://schemas.microsoft.com/office/drawing/2014/main" id="{3CECFAEB-2780-5E2E-B6A6-47FF60A5C222}"/>
              </a:ext>
            </a:extLst>
          </p:cNvPr>
          <p:cNvSpPr txBox="1"/>
          <p:nvPr/>
        </p:nvSpPr>
        <p:spPr>
          <a:xfrm>
            <a:off x="560439" y="2002390"/>
            <a:ext cx="6735096" cy="464871"/>
          </a:xfrm>
          <a:prstGeom prst="rect">
            <a:avLst/>
          </a:prstGeom>
          <a:noFill/>
        </p:spPr>
        <p:txBody>
          <a:bodyPr wrap="square">
            <a:spAutoFit/>
          </a:bodyPr>
          <a:lstStyle/>
          <a:p>
            <a:pPr fontAlgn="base">
              <a:lnSpc>
                <a:spcPct val="150000"/>
              </a:lnSpc>
            </a:pPr>
            <a:r>
              <a:rPr lang="en-US" dirty="0">
                <a:solidFill>
                  <a:srgbClr val="3A3A3A"/>
                </a:solidFill>
                <a:latin typeface="-apple-system"/>
              </a:rPr>
              <a:t>2. Decision Tree</a:t>
            </a:r>
          </a:p>
        </p:txBody>
      </p:sp>
      <p:sp>
        <p:nvSpPr>
          <p:cNvPr id="13" name="TextBox 12">
            <a:extLst>
              <a:ext uri="{FF2B5EF4-FFF2-40B4-BE49-F238E27FC236}">
                <a16:creationId xmlns:a16="http://schemas.microsoft.com/office/drawing/2014/main" id="{C16290CC-F892-0D01-618A-8E5B52999737}"/>
              </a:ext>
            </a:extLst>
          </p:cNvPr>
          <p:cNvSpPr txBox="1"/>
          <p:nvPr/>
        </p:nvSpPr>
        <p:spPr>
          <a:xfrm>
            <a:off x="560439" y="2649816"/>
            <a:ext cx="6735096" cy="369332"/>
          </a:xfrm>
          <a:prstGeom prst="rect">
            <a:avLst/>
          </a:prstGeom>
          <a:noFill/>
        </p:spPr>
        <p:txBody>
          <a:bodyPr wrap="square">
            <a:spAutoFit/>
          </a:bodyPr>
          <a:lstStyle/>
          <a:p>
            <a:pPr fontAlgn="base"/>
            <a:r>
              <a:rPr lang="en-US" dirty="0">
                <a:solidFill>
                  <a:srgbClr val="3A3A3A"/>
                </a:solidFill>
                <a:latin typeface="-apple-system"/>
              </a:rPr>
              <a:t>3</a:t>
            </a:r>
            <a:r>
              <a:rPr lang="en-US" b="0" i="0" dirty="0">
                <a:solidFill>
                  <a:srgbClr val="3A3A3A"/>
                </a:solidFill>
                <a:effectLst/>
                <a:latin typeface="-apple-system"/>
              </a:rPr>
              <a:t>. </a:t>
            </a:r>
            <a:r>
              <a:rPr lang="en-IN" dirty="0"/>
              <a:t>Support Vector Machines</a:t>
            </a:r>
          </a:p>
        </p:txBody>
      </p:sp>
    </p:spTree>
    <p:extLst>
      <p:ext uri="{BB962C8B-B14F-4D97-AF65-F5344CB8AC3E}">
        <p14:creationId xmlns:p14="http://schemas.microsoft.com/office/powerpoint/2010/main" val="938311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10759E-60F4-6221-758B-653706D34230}"/>
              </a:ext>
            </a:extLst>
          </p:cNvPr>
          <p:cNvSpPr txBox="1"/>
          <p:nvPr/>
        </p:nvSpPr>
        <p:spPr>
          <a:xfrm>
            <a:off x="570270" y="523257"/>
            <a:ext cx="7511845" cy="1200329"/>
          </a:xfrm>
          <a:prstGeom prst="rect">
            <a:avLst/>
          </a:prstGeom>
          <a:noFill/>
        </p:spPr>
        <p:txBody>
          <a:bodyPr wrap="square">
            <a:spAutoFit/>
          </a:bodyPr>
          <a:lstStyle/>
          <a:p>
            <a:pPr algn="l" fontAlgn="base">
              <a:spcBef>
                <a:spcPts val="2250"/>
              </a:spcBef>
              <a:spcAft>
                <a:spcPts val="750"/>
              </a:spcAft>
              <a:buNone/>
            </a:pPr>
            <a:r>
              <a:rPr lang="en-IN" sz="3600" b="1" i="0" dirty="0">
                <a:solidFill>
                  <a:srgbClr val="3A3A3A"/>
                </a:solidFill>
                <a:effectLst/>
                <a:latin typeface="-apple-system"/>
              </a:rPr>
              <a:t>Six Techniques are used for </a:t>
            </a:r>
            <a:r>
              <a:rPr lang="en-IN" sz="3600" b="1" dirty="0">
                <a:solidFill>
                  <a:srgbClr val="3A3A3A"/>
                </a:solidFill>
                <a:latin typeface="-apple-system"/>
              </a:rPr>
              <a:t>U</a:t>
            </a:r>
            <a:r>
              <a:rPr lang="en-IN" sz="3600" b="1" i="0" dirty="0">
                <a:solidFill>
                  <a:srgbClr val="3A3A3A"/>
                </a:solidFill>
                <a:effectLst/>
                <a:latin typeface="-apple-system"/>
              </a:rPr>
              <a:t>nder-sampling or Oversampling</a:t>
            </a:r>
          </a:p>
        </p:txBody>
      </p:sp>
      <p:sp>
        <p:nvSpPr>
          <p:cNvPr id="7" name="TextBox 6">
            <a:extLst>
              <a:ext uri="{FF2B5EF4-FFF2-40B4-BE49-F238E27FC236}">
                <a16:creationId xmlns:a16="http://schemas.microsoft.com/office/drawing/2014/main" id="{95527710-E57A-EA1B-F386-E2C36D42810F}"/>
              </a:ext>
            </a:extLst>
          </p:cNvPr>
          <p:cNvSpPr txBox="1"/>
          <p:nvPr/>
        </p:nvSpPr>
        <p:spPr>
          <a:xfrm>
            <a:off x="698090" y="1859376"/>
            <a:ext cx="6096000" cy="369332"/>
          </a:xfrm>
          <a:prstGeom prst="rect">
            <a:avLst/>
          </a:prstGeom>
          <a:noFill/>
        </p:spPr>
        <p:txBody>
          <a:bodyPr wrap="square">
            <a:spAutoFit/>
          </a:bodyPr>
          <a:lstStyle/>
          <a:p>
            <a:pPr algn="l" fontAlgn="base">
              <a:buFont typeface="+mj-lt"/>
              <a:buAutoNum type="arabicPeriod"/>
            </a:pPr>
            <a:r>
              <a:rPr lang="en-IN" b="0" i="0" dirty="0">
                <a:solidFill>
                  <a:srgbClr val="3A3A3A"/>
                </a:solidFill>
                <a:effectLst/>
                <a:latin typeface="-apple-system"/>
              </a:rPr>
              <a:t>Random oversampling</a:t>
            </a:r>
          </a:p>
        </p:txBody>
      </p:sp>
      <p:sp>
        <p:nvSpPr>
          <p:cNvPr id="9" name="TextBox 8">
            <a:extLst>
              <a:ext uri="{FF2B5EF4-FFF2-40B4-BE49-F238E27FC236}">
                <a16:creationId xmlns:a16="http://schemas.microsoft.com/office/drawing/2014/main" id="{DE1D7ED5-4B83-74EE-2777-AFB2CD078E0A}"/>
              </a:ext>
            </a:extLst>
          </p:cNvPr>
          <p:cNvSpPr txBox="1"/>
          <p:nvPr/>
        </p:nvSpPr>
        <p:spPr>
          <a:xfrm>
            <a:off x="698090" y="2344115"/>
            <a:ext cx="6096000" cy="369332"/>
          </a:xfrm>
          <a:prstGeom prst="rect">
            <a:avLst/>
          </a:prstGeom>
          <a:noFill/>
        </p:spPr>
        <p:txBody>
          <a:bodyPr wrap="square">
            <a:spAutoFit/>
          </a:bodyPr>
          <a:lstStyle/>
          <a:p>
            <a:pPr algn="l" fontAlgn="base"/>
            <a:r>
              <a:rPr lang="en-IN" b="0" i="0" dirty="0">
                <a:solidFill>
                  <a:srgbClr val="3A3A3A"/>
                </a:solidFill>
                <a:effectLst/>
                <a:latin typeface="-apple-system"/>
              </a:rPr>
              <a:t>2. SMOTE Oversampling</a:t>
            </a:r>
          </a:p>
        </p:txBody>
      </p:sp>
      <p:sp>
        <p:nvSpPr>
          <p:cNvPr id="11" name="TextBox 10">
            <a:extLst>
              <a:ext uri="{FF2B5EF4-FFF2-40B4-BE49-F238E27FC236}">
                <a16:creationId xmlns:a16="http://schemas.microsoft.com/office/drawing/2014/main" id="{61FE9D20-DEE0-21AE-4C06-D3F8CF26E14C}"/>
              </a:ext>
            </a:extLst>
          </p:cNvPr>
          <p:cNvSpPr txBox="1"/>
          <p:nvPr/>
        </p:nvSpPr>
        <p:spPr>
          <a:xfrm>
            <a:off x="698090" y="2828854"/>
            <a:ext cx="6096000" cy="369332"/>
          </a:xfrm>
          <a:prstGeom prst="rect">
            <a:avLst/>
          </a:prstGeom>
          <a:noFill/>
        </p:spPr>
        <p:txBody>
          <a:bodyPr wrap="square">
            <a:spAutoFit/>
          </a:bodyPr>
          <a:lstStyle/>
          <a:p>
            <a:pPr algn="l" fontAlgn="base"/>
            <a:r>
              <a:rPr lang="en-IN" b="0" i="0" dirty="0">
                <a:solidFill>
                  <a:srgbClr val="3A3A3A"/>
                </a:solidFill>
                <a:effectLst/>
                <a:latin typeface="-apple-system"/>
              </a:rPr>
              <a:t>3. Random Under-sampling</a:t>
            </a:r>
          </a:p>
        </p:txBody>
      </p:sp>
      <p:sp>
        <p:nvSpPr>
          <p:cNvPr id="13" name="TextBox 12">
            <a:extLst>
              <a:ext uri="{FF2B5EF4-FFF2-40B4-BE49-F238E27FC236}">
                <a16:creationId xmlns:a16="http://schemas.microsoft.com/office/drawing/2014/main" id="{B69F82A0-3E76-DB14-1001-F2D4B94879D3}"/>
              </a:ext>
            </a:extLst>
          </p:cNvPr>
          <p:cNvSpPr txBox="1"/>
          <p:nvPr/>
        </p:nvSpPr>
        <p:spPr>
          <a:xfrm>
            <a:off x="698090" y="3347128"/>
            <a:ext cx="6218902" cy="369332"/>
          </a:xfrm>
          <a:prstGeom prst="rect">
            <a:avLst/>
          </a:prstGeom>
          <a:noFill/>
        </p:spPr>
        <p:txBody>
          <a:bodyPr wrap="square">
            <a:spAutoFit/>
          </a:bodyPr>
          <a:lstStyle/>
          <a:p>
            <a:pPr algn="l" fontAlgn="base"/>
            <a:r>
              <a:rPr lang="en-IN" b="0" i="0" dirty="0">
                <a:solidFill>
                  <a:srgbClr val="3A3A3A"/>
                </a:solidFill>
                <a:effectLst/>
                <a:latin typeface="-apple-system"/>
              </a:rPr>
              <a:t>4. Tomek Links Under-sampling</a:t>
            </a:r>
          </a:p>
        </p:txBody>
      </p:sp>
      <p:sp>
        <p:nvSpPr>
          <p:cNvPr id="15" name="TextBox 14">
            <a:extLst>
              <a:ext uri="{FF2B5EF4-FFF2-40B4-BE49-F238E27FC236}">
                <a16:creationId xmlns:a16="http://schemas.microsoft.com/office/drawing/2014/main" id="{B68C459C-7E64-7B6B-F09F-93152C36C30D}"/>
              </a:ext>
            </a:extLst>
          </p:cNvPr>
          <p:cNvSpPr txBox="1"/>
          <p:nvPr/>
        </p:nvSpPr>
        <p:spPr>
          <a:xfrm>
            <a:off x="698090" y="3865402"/>
            <a:ext cx="6218902" cy="369332"/>
          </a:xfrm>
          <a:prstGeom prst="rect">
            <a:avLst/>
          </a:prstGeom>
          <a:noFill/>
        </p:spPr>
        <p:txBody>
          <a:bodyPr wrap="square">
            <a:spAutoFit/>
          </a:bodyPr>
          <a:lstStyle/>
          <a:p>
            <a:pPr algn="l" fontAlgn="base"/>
            <a:r>
              <a:rPr lang="en-IN" b="0" i="0" dirty="0">
                <a:solidFill>
                  <a:srgbClr val="3A3A3A"/>
                </a:solidFill>
                <a:effectLst/>
                <a:latin typeface="-apple-system"/>
              </a:rPr>
              <a:t>5. Cluster centroids under-sampling</a:t>
            </a:r>
          </a:p>
        </p:txBody>
      </p:sp>
      <p:sp>
        <p:nvSpPr>
          <p:cNvPr id="17" name="TextBox 16">
            <a:extLst>
              <a:ext uri="{FF2B5EF4-FFF2-40B4-BE49-F238E27FC236}">
                <a16:creationId xmlns:a16="http://schemas.microsoft.com/office/drawing/2014/main" id="{31080E07-0164-B529-0DF7-53B131779C6C}"/>
              </a:ext>
            </a:extLst>
          </p:cNvPr>
          <p:cNvSpPr txBox="1"/>
          <p:nvPr/>
        </p:nvSpPr>
        <p:spPr>
          <a:xfrm>
            <a:off x="698090" y="4469708"/>
            <a:ext cx="6218902" cy="369332"/>
          </a:xfrm>
          <a:prstGeom prst="rect">
            <a:avLst/>
          </a:prstGeom>
          <a:noFill/>
        </p:spPr>
        <p:txBody>
          <a:bodyPr wrap="square">
            <a:spAutoFit/>
          </a:bodyPr>
          <a:lstStyle/>
          <a:p>
            <a:pPr algn="l" fontAlgn="base"/>
            <a:r>
              <a:rPr lang="en-IN" b="0" i="0" dirty="0">
                <a:solidFill>
                  <a:srgbClr val="3A3A3A"/>
                </a:solidFill>
                <a:effectLst/>
                <a:latin typeface="-apple-system"/>
              </a:rPr>
              <a:t>6. SMOTE + Tomek Links</a:t>
            </a:r>
          </a:p>
        </p:txBody>
      </p:sp>
    </p:spTree>
    <p:extLst>
      <p:ext uri="{BB962C8B-B14F-4D97-AF65-F5344CB8AC3E}">
        <p14:creationId xmlns:p14="http://schemas.microsoft.com/office/powerpoint/2010/main" val="2474622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dirty="0"/>
              <a:t>Under-Sampling of Data Before And After:</a:t>
            </a:r>
          </a:p>
        </p:txBody>
      </p:sp>
      <p:pic>
        <p:nvPicPr>
          <p:cNvPr id="12" name="Content Placeholder 11">
            <a:extLst>
              <a:ext uri="{FF2B5EF4-FFF2-40B4-BE49-F238E27FC236}">
                <a16:creationId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773884" cy="3803707"/>
          </a:xfrm>
        </p:spPr>
      </p:pic>
    </p:spTree>
    <p:extLst>
      <p:ext uri="{BB962C8B-B14F-4D97-AF65-F5344CB8AC3E}">
        <p14:creationId xmlns:p14="http://schemas.microsoft.com/office/powerpoint/2010/main" val="3589581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dirty="0">
                <a:solidFill>
                  <a:schemeClr val="accent1">
                    <a:lumMod val="75000"/>
                  </a:schemeClr>
                </a:solidFill>
              </a:rPr>
              <a:t>Methodology</a:t>
            </a:r>
          </a:p>
        </p:txBody>
      </p:sp>
      <p:pic>
        <p:nvPicPr>
          <p:cNvPr id="5" name="Content Placeholder 4">
            <a:extLst>
              <a:ext uri="{FF2B5EF4-FFF2-40B4-BE49-F238E27FC236}">
                <a16:creationId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a16="http://schemas.microsoft.com/office/drawing/2014/main" id="{C473E262-ED3E-FC4E-4F88-122958271690}"/>
              </a:ext>
            </a:extLst>
          </p:cNvPr>
          <p:cNvSpPr txBox="1"/>
          <p:nvPr/>
        </p:nvSpPr>
        <p:spPr>
          <a:xfrm>
            <a:off x="906780" y="1379220"/>
            <a:ext cx="7470304" cy="5201424"/>
          </a:xfrm>
          <a:prstGeom prst="rect">
            <a:avLst/>
          </a:prstGeom>
          <a:noFill/>
        </p:spPr>
        <p:txBody>
          <a:bodyPr wrap="square" rtlCol="0">
            <a:spAutoFit/>
          </a:bodyPr>
          <a:lstStyle/>
          <a:p>
            <a:r>
              <a:rPr lang="en-US" sz="16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endParaRPr lang="en-US" sz="1400" dirty="0"/>
          </a:p>
          <a:p>
            <a:r>
              <a:rPr lang="en-US" sz="1600" b="1" dirty="0"/>
              <a:t>Data Cleaning:</a:t>
            </a:r>
          </a:p>
          <a:p>
            <a:r>
              <a:rPr lang="en-US" sz="1400" dirty="0"/>
              <a:t>Impute the missing values with the column's mean, median, or mode.</a:t>
            </a:r>
          </a:p>
          <a:p>
            <a:r>
              <a:rPr lang="en-US" sz="1400" dirty="0"/>
              <a:t>Drop the rows with missing values.</a:t>
            </a:r>
          </a:p>
          <a:p>
            <a:r>
              <a:rPr lang="en-US" sz="1400" dirty="0"/>
              <a:t>Use a machine learning model to predict the missing values like is null() and heatmap().</a:t>
            </a:r>
          </a:p>
          <a:p>
            <a:pPr marL="171450" indent="-171450">
              <a:buFont typeface="Arial" panose="020B0604020202020204" pitchFamily="34" charset="0"/>
              <a:buChar char="•"/>
            </a:pPr>
            <a:endParaRPr lang="en-US" sz="1400" dirty="0"/>
          </a:p>
          <a:p>
            <a:r>
              <a:rPr lang="en-US" sz="16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endParaRPr lang="en-US" sz="1400" dirty="0"/>
          </a:p>
          <a:p>
            <a:r>
              <a:rPr lang="en-US" sz="16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endParaRPr lang="en-US" sz="1400" dirty="0"/>
          </a:p>
          <a:p>
            <a:r>
              <a:rPr lang="en-US" sz="16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0E6FEB-89F3-C383-3546-D7F3A7273AF3}"/>
              </a:ext>
            </a:extLst>
          </p:cNvPr>
          <p:cNvSpPr>
            <a:spLocks noGrp="1"/>
          </p:cNvSpPr>
          <p:nvPr>
            <p:ph idx="1"/>
          </p:nvPr>
        </p:nvSpPr>
        <p:spPr>
          <a:xfrm>
            <a:off x="88490" y="1825625"/>
            <a:ext cx="4704490" cy="4929136"/>
          </a:xfrm>
        </p:spPr>
        <p:txBody>
          <a:bodyPr>
            <a:normAutofit fontScale="47500" lnSpcReduction="20000"/>
          </a:bodyPr>
          <a:lstStyle/>
          <a:p>
            <a:pPr marL="0" indent="0" algn="just">
              <a:buNone/>
            </a:pPr>
            <a:r>
              <a:rPr lang="en-US" sz="4300" dirty="0"/>
              <a:t>Two Ks were used to determine the best KNN model, K=3 and K =7.</a:t>
            </a:r>
          </a:p>
          <a:p>
            <a:pPr algn="just"/>
            <a:r>
              <a:rPr lang="en-US" sz="4300" b="1" dirty="0"/>
              <a:t>K</a:t>
            </a:r>
            <a:r>
              <a:rPr lang="en-US" sz="4300" dirty="0"/>
              <a:t> = 3 </a:t>
            </a:r>
          </a:p>
          <a:p>
            <a:pPr marL="0" indent="0" algn="just">
              <a:buNone/>
            </a:pPr>
            <a:r>
              <a:rPr lang="en-US" sz="4300" dirty="0"/>
              <a:t>While making the KNN model, We created two models: K =3 and K =7. </a:t>
            </a:r>
          </a:p>
          <a:p>
            <a:pPr marL="0" indent="0" algn="just">
              <a:buNone/>
            </a:pPr>
            <a:r>
              <a:rPr lang="en-US" sz="4300" dirty="0"/>
              <a:t> Figure 5 shows the model created in Jupiter Notebook; the model scored an accuracy of 71% and identified 85,443 transactions correctly and missed 131.</a:t>
            </a:r>
          </a:p>
          <a:p>
            <a:pPr marL="0" indent="0" algn="just">
              <a:buNone/>
            </a:pPr>
            <a:r>
              <a:rPr lang="en-US" sz="4300" dirty="0"/>
              <a:t>•   K=7</a:t>
            </a:r>
          </a:p>
          <a:p>
            <a:pPr marL="0" indent="0" algn="just">
              <a:buNone/>
            </a:pPr>
            <a:r>
              <a:rPr lang="en-US" sz="4300" dirty="0"/>
              <a:t>There was a slight decrease in the Accuracy of the model created in Jupiter Notebook as it scored less than k=3 when K is 7, and the model miss classified 131 fraudulent transactions as no fraudulent</a:t>
            </a:r>
          </a:p>
        </p:txBody>
      </p:sp>
      <p:pic>
        <p:nvPicPr>
          <p:cNvPr id="6" name="Picture 5">
            <a:extLst>
              <a:ext uri="{FF2B5EF4-FFF2-40B4-BE49-F238E27FC236}">
                <a16:creationId xmlns:a16="http://schemas.microsoft.com/office/drawing/2014/main" id="{B63F5BC9-C56E-E449-AD55-CF046ACB45A6}"/>
              </a:ext>
            </a:extLst>
          </p:cNvPr>
          <p:cNvPicPr>
            <a:picLocks noChangeAspect="1"/>
          </p:cNvPicPr>
          <p:nvPr/>
        </p:nvPicPr>
        <p:blipFill>
          <a:blip r:embed="rId2"/>
          <a:stretch>
            <a:fillRect/>
          </a:stretch>
        </p:blipFill>
        <p:spPr>
          <a:xfrm>
            <a:off x="8164606" y="3077529"/>
            <a:ext cx="3585333" cy="2134552"/>
          </a:xfrm>
          <a:prstGeom prst="rect">
            <a:avLst/>
          </a:prstGeom>
        </p:spPr>
      </p:pic>
      <p:pic>
        <p:nvPicPr>
          <p:cNvPr id="8" name="Picture 7">
            <a:extLst>
              <a:ext uri="{FF2B5EF4-FFF2-40B4-BE49-F238E27FC236}">
                <a16:creationId xmlns:a16="http://schemas.microsoft.com/office/drawing/2014/main" id="{ADF7EF20-40B7-F0F5-BF84-CD9EFD6A52E4}"/>
              </a:ext>
            </a:extLst>
          </p:cNvPr>
          <p:cNvPicPr>
            <a:picLocks noChangeAspect="1"/>
          </p:cNvPicPr>
          <p:nvPr/>
        </p:nvPicPr>
        <p:blipFill>
          <a:blip r:embed="rId3"/>
          <a:stretch>
            <a:fillRect/>
          </a:stretch>
        </p:blipFill>
        <p:spPr>
          <a:xfrm>
            <a:off x="4960620" y="2234565"/>
            <a:ext cx="3036346" cy="1964055"/>
          </a:xfrm>
          <a:prstGeom prst="rect">
            <a:avLst/>
          </a:prstGeom>
        </p:spPr>
      </p:pic>
      <p:pic>
        <p:nvPicPr>
          <p:cNvPr id="10" name="Picture 9">
            <a:extLst>
              <a:ext uri="{FF2B5EF4-FFF2-40B4-BE49-F238E27FC236}">
                <a16:creationId xmlns:a16="http://schemas.microsoft.com/office/drawing/2014/main" id="{EEF73037-4430-2617-EA0C-45AED212EF39}"/>
              </a:ext>
            </a:extLst>
          </p:cNvPr>
          <p:cNvPicPr>
            <a:picLocks noChangeAspect="1"/>
          </p:cNvPicPr>
          <p:nvPr/>
        </p:nvPicPr>
        <p:blipFill>
          <a:blip r:embed="rId4"/>
          <a:stretch>
            <a:fillRect/>
          </a:stretch>
        </p:blipFill>
        <p:spPr>
          <a:xfrm>
            <a:off x="5085587" y="4198620"/>
            <a:ext cx="2766192" cy="1652588"/>
          </a:xfrm>
          <a:prstGeom prst="rect">
            <a:avLst/>
          </a:prstGeom>
        </p:spPr>
      </p:pic>
      <p:sp>
        <p:nvSpPr>
          <p:cNvPr id="5" name="Title 4">
            <a:extLst>
              <a:ext uri="{FF2B5EF4-FFF2-40B4-BE49-F238E27FC236}">
                <a16:creationId xmlns:a16="http://schemas.microsoft.com/office/drawing/2014/main" id="{8570B502-8FFE-87D7-A1D9-E2726F8A1FBB}"/>
              </a:ext>
            </a:extLst>
          </p:cNvPr>
          <p:cNvSpPr>
            <a:spLocks noGrp="1"/>
          </p:cNvSpPr>
          <p:nvPr>
            <p:ph type="title"/>
          </p:nvPr>
        </p:nvSpPr>
        <p:spPr>
          <a:xfrm>
            <a:off x="0" y="414286"/>
            <a:ext cx="10515600" cy="1325563"/>
          </a:xfrm>
        </p:spPr>
        <p:txBody>
          <a:bodyPr/>
          <a:lstStyle/>
          <a:p>
            <a:r>
              <a:rPr lang="en-US" b="1" dirty="0"/>
              <a:t>1. K-Nearest Neighbor (KNN):</a:t>
            </a:r>
            <a:endParaRPr lang="en-IN" dirty="0"/>
          </a:p>
        </p:txBody>
      </p:sp>
    </p:spTree>
    <p:extLst>
      <p:ext uri="{BB962C8B-B14F-4D97-AF65-F5344CB8AC3E}">
        <p14:creationId xmlns:p14="http://schemas.microsoft.com/office/powerpoint/2010/main" val="682425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21CDEB-F60B-7506-B2D5-72885693DD1A}"/>
              </a:ext>
            </a:extLst>
          </p:cNvPr>
          <p:cNvSpPr>
            <a:spLocks noChangeArrowheads="1"/>
          </p:cNvSpPr>
          <p:nvPr/>
        </p:nvSpPr>
        <p:spPr bwMode="auto">
          <a:xfrm>
            <a:off x="216311" y="1202494"/>
            <a:ext cx="777731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KNN is a </a:t>
            </a:r>
            <a:r>
              <a:rPr kumimoji="0" lang="en-US" altLang="en-US" sz="1800" b="1" i="0" u="none" strike="noStrike" cap="none" normalizeH="0" baseline="0" dirty="0">
                <a:ln>
                  <a:noFill/>
                </a:ln>
                <a:solidFill>
                  <a:schemeClr val="tx1"/>
                </a:solidFill>
                <a:effectLst/>
                <a:latin typeface="Arial" panose="020B0604020202020204" pitchFamily="34" charset="0"/>
              </a:rPr>
              <a:t>supervised machine learning algorithm</a:t>
            </a:r>
            <a:r>
              <a:rPr kumimoji="0" lang="en-US" altLang="en-US" sz="1800" b="0" i="0" u="none" strike="noStrike" cap="none" normalizeH="0" baseline="0" dirty="0">
                <a:ln>
                  <a:noFill/>
                </a:ln>
                <a:solidFill>
                  <a:schemeClr val="tx1"/>
                </a:solidFill>
                <a:effectLst/>
                <a:latin typeface="Arial" panose="020B0604020202020204" pitchFamily="34" charset="0"/>
              </a:rPr>
              <a:t> used for </a:t>
            </a:r>
            <a:r>
              <a:rPr kumimoji="0" lang="en-US" altLang="en-US" sz="1800" b="1" i="0" u="none" strike="noStrike" cap="none" normalizeH="0" baseline="0" dirty="0">
                <a:ln>
                  <a:noFill/>
                </a:ln>
                <a:solidFill>
                  <a:schemeClr val="tx1"/>
                </a:solidFill>
                <a:effectLst/>
                <a:latin typeface="Arial" panose="020B0604020202020204" pitchFamily="34" charset="0"/>
              </a:rPr>
              <a:t>classification and regression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classifies a data point based on the </a:t>
            </a:r>
            <a:r>
              <a:rPr kumimoji="0" lang="en-US" altLang="en-US" sz="1800" b="1" i="0" u="none" strike="noStrike" cap="none" normalizeH="0" baseline="0" dirty="0">
                <a:ln>
                  <a:noFill/>
                </a:ln>
                <a:solidFill>
                  <a:schemeClr val="tx1"/>
                </a:solidFill>
                <a:effectLst/>
                <a:latin typeface="Arial" panose="020B0604020202020204" pitchFamily="34" charset="0"/>
              </a:rPr>
              <a:t>majority class of its ‘K’ nearest neighbors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KNN is a </a:t>
            </a:r>
            <a:r>
              <a:rPr kumimoji="0" lang="en-US" altLang="en-US" sz="1800" b="1" i="0" u="none" strike="noStrike" cap="none" normalizeH="0" baseline="0" dirty="0">
                <a:ln>
                  <a:noFill/>
                </a:ln>
                <a:solidFill>
                  <a:schemeClr val="tx1"/>
                </a:solidFill>
                <a:effectLst/>
                <a:latin typeface="Arial" panose="020B0604020202020204" pitchFamily="34" charset="0"/>
              </a:rPr>
              <a:t>non-parametric</a:t>
            </a:r>
            <a:r>
              <a:rPr kumimoji="0" lang="en-US" altLang="en-US" sz="1800" b="0" i="0" u="none" strike="noStrike" cap="none" normalizeH="0" baseline="0" dirty="0">
                <a:ln>
                  <a:noFill/>
                </a:ln>
                <a:solidFill>
                  <a:schemeClr val="tx1"/>
                </a:solidFill>
                <a:effectLst/>
                <a:latin typeface="Arial" panose="020B0604020202020204" pitchFamily="34" charset="0"/>
              </a:rPr>
              <a:t> algorithm, it makes no assumptions about the data distribution.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Works on the principle of </a:t>
            </a:r>
            <a:r>
              <a:rPr kumimoji="0" lang="en-US" altLang="en-US" sz="1800" b="1" i="0" u="none" strike="noStrike" cap="none" normalizeH="0" baseline="0" dirty="0">
                <a:ln>
                  <a:noFill/>
                </a:ln>
                <a:solidFill>
                  <a:schemeClr val="tx1"/>
                </a:solidFill>
                <a:effectLst/>
                <a:latin typeface="Arial" panose="020B0604020202020204" pitchFamily="34" charset="0"/>
              </a:rPr>
              <a:t>“similar data points exist close to each other.”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B7F5E196-52E9-E516-A559-A52B79D8877F}"/>
              </a:ext>
            </a:extLst>
          </p:cNvPr>
          <p:cNvSpPr txBox="1"/>
          <p:nvPr/>
        </p:nvSpPr>
        <p:spPr>
          <a:xfrm>
            <a:off x="216311" y="462116"/>
            <a:ext cx="7325031" cy="584775"/>
          </a:xfrm>
          <a:prstGeom prst="rect">
            <a:avLst/>
          </a:prstGeom>
          <a:noFill/>
        </p:spPr>
        <p:txBody>
          <a:bodyPr wrap="square">
            <a:spAutoFit/>
          </a:bodyPr>
          <a:lstStyle/>
          <a:p>
            <a:r>
              <a:rPr lang="en-IN" sz="3200" b="1" dirty="0"/>
              <a:t>How SVM Works:</a:t>
            </a:r>
          </a:p>
        </p:txBody>
      </p:sp>
    </p:spTree>
    <p:extLst>
      <p:ext uri="{BB962C8B-B14F-4D97-AF65-F5344CB8AC3E}">
        <p14:creationId xmlns:p14="http://schemas.microsoft.com/office/powerpoint/2010/main" val="945888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1E912F-E795-2F24-20A3-E8028E26860C}"/>
              </a:ext>
            </a:extLst>
          </p:cNvPr>
          <p:cNvSpPr txBox="1"/>
          <p:nvPr/>
        </p:nvSpPr>
        <p:spPr>
          <a:xfrm>
            <a:off x="245808" y="356026"/>
            <a:ext cx="10117392" cy="954107"/>
          </a:xfrm>
          <a:prstGeom prst="rect">
            <a:avLst/>
          </a:prstGeom>
          <a:noFill/>
        </p:spPr>
        <p:txBody>
          <a:bodyPr wrap="square">
            <a:sp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Accuracy</a:t>
            </a:r>
            <a:r>
              <a:rPr lang="en-US" altLang="en-US" sz="2800" b="1" dirty="0">
                <a:latin typeface="Arial" panose="020B0604020202020204" pitchFamily="34" charset="0"/>
              </a:rPr>
              <a:t>, Precision, Recall, F1-Score  for </a:t>
            </a:r>
            <a:r>
              <a:rPr lang="en-IN" altLang="en-US" sz="2800" b="1" dirty="0">
                <a:latin typeface="Arial" panose="020B0604020202020204" pitchFamily="34" charset="0"/>
              </a:rPr>
              <a:t>Under-sampling</a:t>
            </a:r>
            <a:r>
              <a:rPr lang="en-US" altLang="en-US" sz="2800" b="1" dirty="0">
                <a:latin typeface="Arial" panose="020B0604020202020204" pitchFamily="34" charset="0"/>
              </a:rPr>
              <a:t>:</a:t>
            </a:r>
            <a:endParaRPr lang="en-IN" sz="2800" dirty="0"/>
          </a:p>
        </p:txBody>
      </p:sp>
      <p:sp>
        <p:nvSpPr>
          <p:cNvPr id="3" name="Rectangle 2">
            <a:extLst>
              <a:ext uri="{FF2B5EF4-FFF2-40B4-BE49-F238E27FC236}">
                <a16:creationId xmlns:a16="http://schemas.microsoft.com/office/drawing/2014/main" id="{BDE9F0EA-E3E5-8BA2-C0E2-66E2A84C0DE5}"/>
              </a:ext>
            </a:extLst>
          </p:cNvPr>
          <p:cNvSpPr>
            <a:spLocks noChangeArrowheads="1"/>
          </p:cNvSpPr>
          <p:nvPr/>
        </p:nvSpPr>
        <p:spPr bwMode="auto">
          <a:xfrm>
            <a:off x="216311" y="1558618"/>
            <a:ext cx="587968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transaction is represented by features (</a:t>
            </a:r>
            <a:r>
              <a:rPr kumimoji="0" lang="en-US" altLang="en-US" sz="1400" b="0" i="0" u="none" strike="noStrike" cap="none" normalizeH="0" baseline="0" dirty="0">
                <a:ln>
                  <a:noFill/>
                </a:ln>
                <a:solidFill>
                  <a:schemeClr val="tx1"/>
                </a:solidFill>
                <a:effectLst/>
                <a:latin typeface="Arial Unicode MS"/>
              </a:rPr>
              <a:t>V1–V28</a:t>
            </a:r>
            <a:r>
              <a:rPr kumimoji="0" lang="en-US" altLang="en-US" sz="11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Amount</a:t>
            </a:r>
            <a:r>
              <a:rPr kumimoji="0" lang="en-US" altLang="en-US" sz="1100"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etc</a:t>
            </a:r>
            <a:r>
              <a:rPr kumimoji="0" lang="en-US" altLang="en-US" sz="11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KNN compares new transactions with existing ones to detect similarity to </a:t>
            </a:r>
            <a:r>
              <a:rPr kumimoji="0" lang="en-US" altLang="en-US" sz="1800" b="1" i="0" u="none" strike="noStrike" cap="none" normalizeH="0" baseline="0" dirty="0">
                <a:ln>
                  <a:noFill/>
                </a:ln>
                <a:solidFill>
                  <a:schemeClr val="tx1"/>
                </a:solidFill>
                <a:effectLst/>
                <a:latin typeface="Arial" panose="020B0604020202020204" pitchFamily="34" charset="0"/>
              </a:rPr>
              <a:t>fraudulent patterns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Works well for smaller datasets after </a:t>
            </a:r>
            <a:r>
              <a:rPr kumimoji="0" lang="en-US" altLang="en-US" sz="1800" b="1" i="0" u="none" strike="noStrike" cap="none" normalizeH="0" baseline="0" dirty="0">
                <a:ln>
                  <a:noFill/>
                </a:ln>
                <a:solidFill>
                  <a:schemeClr val="tx1"/>
                </a:solidFill>
                <a:effectLst/>
                <a:latin typeface="Arial" panose="020B0604020202020204" pitchFamily="34" charset="0"/>
              </a:rPr>
              <a:t>feature scaling</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9" name="Picture 8">
            <a:extLst>
              <a:ext uri="{FF2B5EF4-FFF2-40B4-BE49-F238E27FC236}">
                <a16:creationId xmlns:a16="http://schemas.microsoft.com/office/drawing/2014/main" id="{92D6C7E6-8F64-96E5-BE66-6009DBAF513D}"/>
              </a:ext>
            </a:extLst>
          </p:cNvPr>
          <p:cNvPicPr>
            <a:picLocks noChangeAspect="1"/>
          </p:cNvPicPr>
          <p:nvPr/>
        </p:nvPicPr>
        <p:blipFill>
          <a:blip r:embed="rId2"/>
          <a:stretch>
            <a:fillRect/>
          </a:stretch>
        </p:blipFill>
        <p:spPr>
          <a:xfrm>
            <a:off x="6125497" y="1310133"/>
            <a:ext cx="5883150" cy="2528296"/>
          </a:xfrm>
          <a:prstGeom prst="rect">
            <a:avLst/>
          </a:prstGeom>
        </p:spPr>
      </p:pic>
    </p:spTree>
    <p:extLst>
      <p:ext uri="{BB962C8B-B14F-4D97-AF65-F5344CB8AC3E}">
        <p14:creationId xmlns:p14="http://schemas.microsoft.com/office/powerpoint/2010/main" val="3253943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7D5F3-8CAD-7109-BCA0-CB39D2662F12}"/>
              </a:ext>
            </a:extLst>
          </p:cNvPr>
          <p:cNvSpPr>
            <a:spLocks noGrp="1"/>
          </p:cNvSpPr>
          <p:nvPr>
            <p:ph type="title"/>
          </p:nvPr>
        </p:nvSpPr>
        <p:spPr>
          <a:xfrm>
            <a:off x="540775" y="374957"/>
            <a:ext cx="10515600" cy="1325563"/>
          </a:xfrm>
        </p:spPr>
        <p:txBody>
          <a:bodyPr>
            <a:normAutofit/>
          </a:bodyPr>
          <a:lstStyle/>
          <a:p>
            <a:r>
              <a:rPr lang="en-US" b="1" dirty="0"/>
              <a:t>2</a:t>
            </a:r>
            <a:r>
              <a:rPr lang="en-US" sz="5400" b="1" dirty="0"/>
              <a:t>. </a:t>
            </a:r>
            <a:r>
              <a:rPr lang="en-US" b="1" dirty="0"/>
              <a:t>Logistic</a:t>
            </a:r>
            <a:r>
              <a:rPr lang="en-US" sz="5400" b="1" dirty="0"/>
              <a:t> </a:t>
            </a:r>
            <a:r>
              <a:rPr lang="en-US" b="1" dirty="0"/>
              <a:t>Regression</a:t>
            </a:r>
            <a:r>
              <a:rPr lang="en-US" sz="5400" b="1" dirty="0"/>
              <a:t> </a:t>
            </a:r>
            <a:r>
              <a:rPr lang="en-US" b="1" dirty="0"/>
              <a:t>(L.R.):</a:t>
            </a:r>
            <a:endParaRPr lang="en-US" dirty="0"/>
          </a:p>
        </p:txBody>
      </p:sp>
      <p:sp>
        <p:nvSpPr>
          <p:cNvPr id="8" name="Rectangle 2">
            <a:extLst>
              <a:ext uri="{FF2B5EF4-FFF2-40B4-BE49-F238E27FC236}">
                <a16:creationId xmlns:a16="http://schemas.microsoft.com/office/drawing/2014/main" id="{E80386CE-B822-F3E3-2D84-26C63765F650}"/>
              </a:ext>
            </a:extLst>
          </p:cNvPr>
          <p:cNvSpPr>
            <a:spLocks noChangeArrowheads="1"/>
          </p:cNvSpPr>
          <p:nvPr/>
        </p:nvSpPr>
        <p:spPr bwMode="auto">
          <a:xfrm>
            <a:off x="540775" y="1515663"/>
            <a:ext cx="860322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Logistic Regression is a </a:t>
            </a:r>
            <a:r>
              <a:rPr kumimoji="0" lang="en-US" altLang="en-US" sz="1800" b="1" i="0" u="none" strike="noStrike" cap="none" normalizeH="0" baseline="0" dirty="0">
                <a:ln>
                  <a:noFill/>
                </a:ln>
                <a:solidFill>
                  <a:schemeClr val="tx1"/>
                </a:solidFill>
                <a:effectLst/>
                <a:latin typeface="Arial" panose="020B0604020202020204" pitchFamily="34" charset="0"/>
              </a:rPr>
              <a:t>supervised machine learning algorithm</a:t>
            </a:r>
            <a:r>
              <a:rPr kumimoji="0" lang="en-US" altLang="en-US" sz="1800" b="0" i="0" u="none" strike="noStrike" cap="none" normalizeH="0" baseline="0" dirty="0">
                <a:ln>
                  <a:noFill/>
                </a:ln>
                <a:solidFill>
                  <a:schemeClr val="tx1"/>
                </a:solidFill>
                <a:effectLst/>
                <a:latin typeface="Arial" panose="020B0604020202020204" pitchFamily="34" charset="0"/>
              </a:rPr>
              <a:t> used for </a:t>
            </a:r>
            <a:r>
              <a:rPr kumimoji="0" lang="en-US" altLang="en-US" sz="1800" b="1" i="0" u="none" strike="noStrike" cap="none" normalizeH="0" baseline="0" dirty="0">
                <a:ln>
                  <a:noFill/>
                </a:ln>
                <a:solidFill>
                  <a:schemeClr val="tx1"/>
                </a:solidFill>
                <a:effectLst/>
                <a:latin typeface="Arial" panose="020B0604020202020204" pitchFamily="34" charset="0"/>
              </a:rPr>
              <a:t>classification problems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predicts the </a:t>
            </a:r>
            <a:r>
              <a:rPr kumimoji="0" lang="en-US" altLang="en-US" sz="1800" b="1" i="0" u="none" strike="noStrike" cap="none" normalizeH="0" baseline="0" dirty="0">
                <a:ln>
                  <a:noFill/>
                </a:ln>
                <a:solidFill>
                  <a:schemeClr val="tx1"/>
                </a:solidFill>
                <a:effectLst/>
                <a:latin typeface="Arial" panose="020B0604020202020204" pitchFamily="34" charset="0"/>
              </a:rPr>
              <a:t>probability</a:t>
            </a:r>
            <a:r>
              <a:rPr kumimoji="0" lang="en-US" altLang="en-US" sz="1800" b="0" i="0" u="none" strike="noStrike" cap="none" normalizeH="0" baseline="0" dirty="0">
                <a:ln>
                  <a:noFill/>
                </a:ln>
                <a:solidFill>
                  <a:schemeClr val="tx1"/>
                </a:solidFill>
                <a:effectLst/>
                <a:latin typeface="Arial" panose="020B0604020202020204" pitchFamily="34" charset="0"/>
              </a:rPr>
              <a:t> of a categorical outcome (e.g., fraud or not fraud).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output is transformed using the </a:t>
            </a:r>
            <a:r>
              <a:rPr kumimoji="0" lang="en-US" altLang="en-US" sz="1800" b="1" i="0" u="none" strike="noStrike" cap="none" normalizeH="0" baseline="0" dirty="0">
                <a:ln>
                  <a:noFill/>
                </a:ln>
                <a:solidFill>
                  <a:schemeClr val="tx1"/>
                </a:solidFill>
                <a:effectLst/>
                <a:latin typeface="Arial" panose="020B0604020202020204" pitchFamily="34" charset="0"/>
              </a:rPr>
              <a:t>sigmoid function</a:t>
            </a:r>
            <a:r>
              <a:rPr kumimoji="0" lang="en-US" altLang="en-US" sz="1800" b="0" i="0" u="none" strike="noStrike" cap="none" normalizeH="0" baseline="0" dirty="0">
                <a:ln>
                  <a:noFill/>
                </a:ln>
                <a:solidFill>
                  <a:schemeClr val="tx1"/>
                </a:solidFill>
                <a:effectLst/>
                <a:latin typeface="Arial" panose="020B0604020202020204" pitchFamily="34" charset="0"/>
              </a:rPr>
              <a:t> to produce values between </a:t>
            </a:r>
            <a:r>
              <a:rPr kumimoji="0" lang="en-US" altLang="en-US" sz="1800" b="1" i="0" u="none" strike="noStrike" cap="none" normalizeH="0" baseline="0" dirty="0">
                <a:ln>
                  <a:noFill/>
                </a:ln>
                <a:solidFill>
                  <a:schemeClr val="tx1"/>
                </a:solidFill>
                <a:effectLst/>
                <a:latin typeface="Arial" panose="020B0604020202020204" pitchFamily="34" charset="0"/>
              </a:rPr>
              <a:t>0 and 1</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Often used for </a:t>
            </a:r>
            <a:r>
              <a:rPr kumimoji="0" lang="en-US" altLang="en-US" sz="1800" b="1" i="0" u="none" strike="noStrike" cap="none" normalizeH="0" baseline="0" dirty="0">
                <a:ln>
                  <a:noFill/>
                </a:ln>
                <a:solidFill>
                  <a:schemeClr val="tx1"/>
                </a:solidFill>
                <a:effectLst/>
                <a:latin typeface="Arial" panose="020B0604020202020204" pitchFamily="34" charset="0"/>
              </a:rPr>
              <a:t>binary classification</a:t>
            </a:r>
            <a:r>
              <a:rPr kumimoji="0" lang="en-US" altLang="en-US" sz="1800" b="0" i="0" u="none" strike="noStrike" cap="none" normalizeH="0" baseline="0" dirty="0">
                <a:ln>
                  <a:noFill/>
                </a:ln>
                <a:solidFill>
                  <a:schemeClr val="tx1"/>
                </a:solidFill>
                <a:effectLst/>
                <a:latin typeface="Arial" panose="020B0604020202020204" pitchFamily="34" charset="0"/>
              </a:rPr>
              <a:t> (Yes/No, 0/1).</a:t>
            </a:r>
          </a:p>
        </p:txBody>
      </p:sp>
    </p:spTree>
    <p:extLst>
      <p:ext uri="{BB962C8B-B14F-4D97-AF65-F5344CB8AC3E}">
        <p14:creationId xmlns:p14="http://schemas.microsoft.com/office/powerpoint/2010/main" val="386236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3AE07D-0CF5-A32C-1731-089201125801}"/>
              </a:ext>
            </a:extLst>
          </p:cNvPr>
          <p:cNvPicPr>
            <a:picLocks noChangeAspect="1"/>
          </p:cNvPicPr>
          <p:nvPr/>
        </p:nvPicPr>
        <p:blipFill>
          <a:blip r:embed="rId2"/>
          <a:stretch>
            <a:fillRect/>
          </a:stretch>
        </p:blipFill>
        <p:spPr>
          <a:xfrm>
            <a:off x="559590" y="1511984"/>
            <a:ext cx="11072820" cy="4313294"/>
          </a:xfrm>
          <a:prstGeom prst="rect">
            <a:avLst/>
          </a:prstGeom>
        </p:spPr>
      </p:pic>
      <p:sp>
        <p:nvSpPr>
          <p:cNvPr id="5" name="TextBox 4">
            <a:extLst>
              <a:ext uri="{FF2B5EF4-FFF2-40B4-BE49-F238E27FC236}">
                <a16:creationId xmlns:a16="http://schemas.microsoft.com/office/drawing/2014/main" id="{BA97ABB0-FECA-7EC8-AB11-80081BC59FC5}"/>
              </a:ext>
            </a:extLst>
          </p:cNvPr>
          <p:cNvSpPr txBox="1"/>
          <p:nvPr/>
        </p:nvSpPr>
        <p:spPr>
          <a:xfrm>
            <a:off x="698089" y="434766"/>
            <a:ext cx="9261988" cy="1077218"/>
          </a:xfrm>
          <a:prstGeom prst="rect">
            <a:avLst/>
          </a:prstGeom>
          <a:noFill/>
        </p:spPr>
        <p:txBody>
          <a:bodyPr wrap="square">
            <a:spAutoFit/>
          </a:bodyPr>
          <a:lstStyle/>
          <a:p>
            <a:r>
              <a:rPr kumimoji="0" lang="en-US" altLang="en-US" sz="3200" b="1" i="0" u="none" strike="noStrike" cap="none" normalizeH="0" baseline="0" dirty="0">
                <a:ln>
                  <a:noFill/>
                </a:ln>
                <a:solidFill>
                  <a:schemeClr val="tx1"/>
                </a:solidFill>
                <a:effectLst/>
                <a:latin typeface="Arial" panose="020B0604020202020204" pitchFamily="34" charset="0"/>
              </a:rPr>
              <a:t>Accuracy</a:t>
            </a:r>
            <a:r>
              <a:rPr lang="en-US" altLang="en-US" sz="3200" b="1" dirty="0">
                <a:latin typeface="Arial" panose="020B0604020202020204" pitchFamily="34" charset="0"/>
              </a:rPr>
              <a:t>, Precision, Recall, F1-Score  for Under-sampling:</a:t>
            </a:r>
            <a:endParaRPr lang="en-IN" sz="3200" dirty="0"/>
          </a:p>
        </p:txBody>
      </p:sp>
    </p:spTree>
    <p:extLst>
      <p:ext uri="{BB962C8B-B14F-4D97-AF65-F5344CB8AC3E}">
        <p14:creationId xmlns:p14="http://schemas.microsoft.com/office/powerpoint/2010/main" val="1247009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FE2AB1-AEE4-C778-F524-1F3DED3B5AEE}"/>
              </a:ext>
            </a:extLst>
          </p:cNvPr>
          <p:cNvPicPr>
            <a:picLocks noChangeAspect="1"/>
          </p:cNvPicPr>
          <p:nvPr/>
        </p:nvPicPr>
        <p:blipFill>
          <a:blip r:embed="rId2"/>
          <a:stretch>
            <a:fillRect/>
          </a:stretch>
        </p:blipFill>
        <p:spPr>
          <a:xfrm>
            <a:off x="620527" y="2075561"/>
            <a:ext cx="5936494" cy="3513124"/>
          </a:xfrm>
          <a:prstGeom prst="rect">
            <a:avLst/>
          </a:prstGeom>
        </p:spPr>
      </p:pic>
      <p:sp>
        <p:nvSpPr>
          <p:cNvPr id="5" name="TextBox 4">
            <a:extLst>
              <a:ext uri="{FF2B5EF4-FFF2-40B4-BE49-F238E27FC236}">
                <a16:creationId xmlns:a16="http://schemas.microsoft.com/office/drawing/2014/main" id="{8DBE9DE2-BFBC-4B8A-2890-196E927A6BDD}"/>
              </a:ext>
            </a:extLst>
          </p:cNvPr>
          <p:cNvSpPr txBox="1"/>
          <p:nvPr/>
        </p:nvSpPr>
        <p:spPr>
          <a:xfrm>
            <a:off x="747252" y="581403"/>
            <a:ext cx="9065342" cy="1077218"/>
          </a:xfrm>
          <a:prstGeom prst="rect">
            <a:avLst/>
          </a:prstGeom>
          <a:noFill/>
        </p:spPr>
        <p:txBody>
          <a:bodyPr wrap="square">
            <a:spAutoFit/>
          </a:bodyPr>
          <a:lstStyle/>
          <a:p>
            <a:r>
              <a:rPr kumimoji="0" lang="en-US" altLang="en-US" sz="3200" b="1" i="0" u="none" strike="noStrike" cap="none" normalizeH="0" baseline="0" dirty="0">
                <a:ln>
                  <a:noFill/>
                </a:ln>
                <a:solidFill>
                  <a:schemeClr val="tx1"/>
                </a:solidFill>
                <a:effectLst/>
                <a:latin typeface="Arial" panose="020B0604020202020204" pitchFamily="34" charset="0"/>
              </a:rPr>
              <a:t>Accuracy</a:t>
            </a:r>
            <a:r>
              <a:rPr lang="en-US" altLang="en-US" sz="3200" b="1" dirty="0">
                <a:latin typeface="Arial" panose="020B0604020202020204" pitchFamily="34" charset="0"/>
              </a:rPr>
              <a:t>, Precision, Recall, F1-Score  for Oversampling:</a:t>
            </a:r>
            <a:endParaRPr lang="en-IN" sz="3200" dirty="0"/>
          </a:p>
        </p:txBody>
      </p:sp>
    </p:spTree>
    <p:extLst>
      <p:ext uri="{BB962C8B-B14F-4D97-AF65-F5344CB8AC3E}">
        <p14:creationId xmlns:p14="http://schemas.microsoft.com/office/powerpoint/2010/main" val="3878613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04AE-DC15-2E87-D995-63D27307F64E}"/>
              </a:ext>
            </a:extLst>
          </p:cNvPr>
          <p:cNvSpPr>
            <a:spLocks noGrp="1"/>
          </p:cNvSpPr>
          <p:nvPr>
            <p:ph type="title"/>
          </p:nvPr>
        </p:nvSpPr>
        <p:spPr>
          <a:xfrm>
            <a:off x="838200" y="365125"/>
            <a:ext cx="10515600" cy="853757"/>
          </a:xfrm>
        </p:spPr>
        <p:txBody>
          <a:bodyPr>
            <a:normAutofit/>
          </a:bodyPr>
          <a:lstStyle/>
          <a:p>
            <a:r>
              <a:rPr lang="en-US" b="1" dirty="0"/>
              <a:t>3. Support Vector Machine (SVM):</a:t>
            </a:r>
            <a:endParaRPr lang="en-US" dirty="0"/>
          </a:p>
        </p:txBody>
      </p:sp>
      <p:sp>
        <p:nvSpPr>
          <p:cNvPr id="3" name="Content Placeholder 2">
            <a:extLst>
              <a:ext uri="{FF2B5EF4-FFF2-40B4-BE49-F238E27FC236}">
                <a16:creationId xmlns:a16="http://schemas.microsoft.com/office/drawing/2014/main" id="{06FAFDCF-65EA-7F9C-7A3A-ACAE5235CB57}"/>
              </a:ext>
            </a:extLst>
          </p:cNvPr>
          <p:cNvSpPr>
            <a:spLocks noGrp="1"/>
          </p:cNvSpPr>
          <p:nvPr>
            <p:ph idx="1"/>
          </p:nvPr>
        </p:nvSpPr>
        <p:spPr>
          <a:xfrm>
            <a:off x="629265" y="1140017"/>
            <a:ext cx="10724535" cy="4351338"/>
          </a:xfrm>
        </p:spPr>
        <p:txBody>
          <a:bodyPr/>
          <a:lstStyle/>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a16="http://schemas.microsoft.com/office/drawing/2014/main" id="{409C2B37-07B3-C0AC-78EA-D276603DAF00}"/>
              </a:ext>
            </a:extLst>
          </p:cNvPr>
          <p:cNvPicPr>
            <a:picLocks noChangeAspect="1"/>
          </p:cNvPicPr>
          <p:nvPr/>
        </p:nvPicPr>
        <p:blipFill>
          <a:blip r:embed="rId2"/>
          <a:stretch>
            <a:fillRect/>
          </a:stretch>
        </p:blipFill>
        <p:spPr>
          <a:xfrm>
            <a:off x="1550488" y="2213881"/>
            <a:ext cx="3467652" cy="2687431"/>
          </a:xfrm>
          <a:prstGeom prst="rect">
            <a:avLst/>
          </a:prstGeom>
        </p:spPr>
      </p:pic>
      <p:sp>
        <p:nvSpPr>
          <p:cNvPr id="6" name="TextBox 5">
            <a:extLst>
              <a:ext uri="{FF2B5EF4-FFF2-40B4-BE49-F238E27FC236}">
                <a16:creationId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2C5A5F-382E-D5B6-5CDA-97566BB8C6A5}"/>
              </a:ext>
            </a:extLst>
          </p:cNvPr>
          <p:cNvSpPr>
            <a:spLocks noChangeArrowheads="1"/>
          </p:cNvSpPr>
          <p:nvPr/>
        </p:nvSpPr>
        <p:spPr bwMode="auto">
          <a:xfrm>
            <a:off x="393290" y="1296809"/>
            <a:ext cx="705956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data point is represented as a </a:t>
            </a:r>
            <a:r>
              <a:rPr kumimoji="0" lang="en-US" altLang="en-US" sz="1800" b="1" i="0" u="none" strike="noStrike" cap="none" normalizeH="0" baseline="0" dirty="0">
                <a:ln>
                  <a:noFill/>
                </a:ln>
                <a:solidFill>
                  <a:schemeClr val="tx1"/>
                </a:solidFill>
                <a:effectLst/>
                <a:latin typeface="Arial" panose="020B0604020202020204" pitchFamily="34" charset="0"/>
              </a:rPr>
              <a:t>vector in n-dimensional space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algorithm finds the </a:t>
            </a:r>
            <a:r>
              <a:rPr kumimoji="0" lang="en-US" altLang="en-US" sz="1800" b="1" i="0" u="none" strike="noStrike" cap="none" normalizeH="0" baseline="0" dirty="0">
                <a:ln>
                  <a:noFill/>
                </a:ln>
                <a:solidFill>
                  <a:schemeClr val="tx1"/>
                </a:solidFill>
                <a:effectLst/>
                <a:latin typeface="Arial" panose="020B0604020202020204" pitchFamily="34" charset="0"/>
              </a:rPr>
              <a:t>hyperplane</a:t>
            </a:r>
            <a:r>
              <a:rPr kumimoji="0" lang="en-US" altLang="en-US" sz="1800" b="0" i="0" u="none" strike="noStrike" cap="none" normalizeH="0" baseline="0" dirty="0">
                <a:ln>
                  <a:noFill/>
                </a:ln>
                <a:solidFill>
                  <a:schemeClr val="tx1"/>
                </a:solidFill>
                <a:effectLst/>
                <a:latin typeface="Arial" panose="020B0604020202020204" pitchFamily="34" charset="0"/>
              </a:rPr>
              <a:t> that best separates the two classes.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Points closest to the hyperplane are called </a:t>
            </a:r>
            <a:r>
              <a:rPr kumimoji="0" lang="en-US" altLang="en-US" sz="1800" b="1" i="0" u="none" strike="noStrike" cap="none" normalizeH="0" baseline="0" dirty="0">
                <a:ln>
                  <a:noFill/>
                </a:ln>
                <a:solidFill>
                  <a:schemeClr val="tx1"/>
                </a:solidFill>
                <a:effectLst/>
                <a:latin typeface="Arial" panose="020B0604020202020204" pitchFamily="34" charset="0"/>
              </a:rPr>
              <a:t>Support Vectors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goal is to </a:t>
            </a:r>
            <a:r>
              <a:rPr kumimoji="0" lang="en-US" altLang="en-US" sz="1800" b="1" i="0" u="none" strike="noStrike" cap="none" normalizeH="0" baseline="0" dirty="0">
                <a:ln>
                  <a:noFill/>
                </a:ln>
                <a:solidFill>
                  <a:schemeClr val="tx1"/>
                </a:solidFill>
                <a:effectLst/>
                <a:latin typeface="Arial" panose="020B0604020202020204" pitchFamily="34" charset="0"/>
              </a:rPr>
              <a:t>maximize the margin</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the distance between the hyperplane and the support vectors.</a:t>
            </a:r>
          </a:p>
        </p:txBody>
      </p:sp>
      <p:sp>
        <p:nvSpPr>
          <p:cNvPr id="4" name="TextBox 3">
            <a:extLst>
              <a:ext uri="{FF2B5EF4-FFF2-40B4-BE49-F238E27FC236}">
                <a16:creationId xmlns:a16="http://schemas.microsoft.com/office/drawing/2014/main" id="{5DD55B92-9B97-4965-AE54-1837EB0CFF0E}"/>
              </a:ext>
            </a:extLst>
          </p:cNvPr>
          <p:cNvSpPr txBox="1"/>
          <p:nvPr/>
        </p:nvSpPr>
        <p:spPr>
          <a:xfrm>
            <a:off x="393290" y="552753"/>
            <a:ext cx="6096000" cy="646331"/>
          </a:xfrm>
          <a:prstGeom prst="rect">
            <a:avLst/>
          </a:prstGeom>
          <a:noFill/>
        </p:spPr>
        <p:txBody>
          <a:bodyPr wrap="square">
            <a:spAutoFit/>
          </a:bodyPr>
          <a:lstStyle/>
          <a:p>
            <a:r>
              <a:rPr lang="en-IN" sz="3600" b="1" dirty="0"/>
              <a:t>How SVM Works</a:t>
            </a:r>
          </a:p>
        </p:txBody>
      </p:sp>
    </p:spTree>
    <p:extLst>
      <p:ext uri="{BB962C8B-B14F-4D97-AF65-F5344CB8AC3E}">
        <p14:creationId xmlns:p14="http://schemas.microsoft.com/office/powerpoint/2010/main" val="2163610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515A4-141C-3334-722D-9C873B56E899}"/>
              </a:ext>
            </a:extLst>
          </p:cNvPr>
          <p:cNvPicPr>
            <a:picLocks noChangeAspect="1"/>
          </p:cNvPicPr>
          <p:nvPr/>
        </p:nvPicPr>
        <p:blipFill>
          <a:blip r:embed="rId2"/>
          <a:stretch>
            <a:fillRect/>
          </a:stretch>
        </p:blipFill>
        <p:spPr>
          <a:xfrm>
            <a:off x="5043948" y="1489140"/>
            <a:ext cx="6923345" cy="4026757"/>
          </a:xfrm>
          <a:prstGeom prst="rect">
            <a:avLst/>
          </a:prstGeom>
        </p:spPr>
      </p:pic>
      <p:sp>
        <p:nvSpPr>
          <p:cNvPr id="5" name="TextBox 4">
            <a:extLst>
              <a:ext uri="{FF2B5EF4-FFF2-40B4-BE49-F238E27FC236}">
                <a16:creationId xmlns:a16="http://schemas.microsoft.com/office/drawing/2014/main" id="{7E6DC9ED-F52A-4159-2DBC-C967C9B1751A}"/>
              </a:ext>
            </a:extLst>
          </p:cNvPr>
          <p:cNvSpPr txBox="1"/>
          <p:nvPr/>
        </p:nvSpPr>
        <p:spPr>
          <a:xfrm>
            <a:off x="442451" y="411922"/>
            <a:ext cx="10520517" cy="1077218"/>
          </a:xfrm>
          <a:prstGeom prst="rect">
            <a:avLst/>
          </a:prstGeom>
          <a:noFill/>
        </p:spPr>
        <p:txBody>
          <a:bodyPr wrap="square">
            <a:spAutoFit/>
          </a:bodyPr>
          <a:lstStyle/>
          <a:p>
            <a:r>
              <a:rPr kumimoji="0" lang="en-US" altLang="en-US" sz="3200" b="1" i="0" u="none" strike="noStrike" cap="none" normalizeH="0" baseline="0" dirty="0">
                <a:ln>
                  <a:noFill/>
                </a:ln>
                <a:solidFill>
                  <a:schemeClr val="tx1"/>
                </a:solidFill>
                <a:effectLst/>
                <a:latin typeface="Arial" panose="020B0604020202020204" pitchFamily="34" charset="0"/>
              </a:rPr>
              <a:t>Accuracy</a:t>
            </a:r>
            <a:r>
              <a:rPr lang="en-US" altLang="en-US" sz="3200" b="1" dirty="0">
                <a:latin typeface="Arial" panose="020B0604020202020204" pitchFamily="34" charset="0"/>
              </a:rPr>
              <a:t>, Precision, Recall, F1-Score  for Under-sampling:</a:t>
            </a:r>
            <a:endParaRPr lang="en-IN" sz="3200" dirty="0"/>
          </a:p>
        </p:txBody>
      </p:sp>
      <p:sp>
        <p:nvSpPr>
          <p:cNvPr id="6" name="Rectangle 1">
            <a:extLst>
              <a:ext uri="{FF2B5EF4-FFF2-40B4-BE49-F238E27FC236}">
                <a16:creationId xmlns:a16="http://schemas.microsoft.com/office/drawing/2014/main" id="{047351FC-DACF-E262-99CC-527A4A89A169}"/>
              </a:ext>
            </a:extLst>
          </p:cNvPr>
          <p:cNvSpPr>
            <a:spLocks noChangeArrowheads="1"/>
          </p:cNvSpPr>
          <p:nvPr/>
        </p:nvSpPr>
        <p:spPr bwMode="auto">
          <a:xfrm>
            <a:off x="442451" y="2092337"/>
            <a:ext cx="4807974" cy="2339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is highly </a:t>
            </a:r>
            <a:r>
              <a:rPr kumimoji="0" lang="en-US" altLang="en-US" sz="1800" b="1" i="0" u="none" strike="noStrike" cap="none" normalizeH="0" baseline="0" dirty="0">
                <a:ln>
                  <a:noFill/>
                </a:ln>
                <a:solidFill>
                  <a:schemeClr val="tx1"/>
                </a:solidFill>
                <a:effectLst/>
                <a:latin typeface="Arial" panose="020B0604020202020204" pitchFamily="34" charset="0"/>
              </a:rPr>
              <a:t>imbalanced</a:t>
            </a:r>
            <a:r>
              <a:rPr kumimoji="0" lang="en-US" altLang="en-US" sz="1800" b="0" i="0" u="none" strike="noStrike" cap="none" normalizeH="0" baseline="0" dirty="0">
                <a:ln>
                  <a:noFill/>
                </a:ln>
                <a:solidFill>
                  <a:schemeClr val="tx1"/>
                </a:solidFill>
                <a:effectLst/>
                <a:latin typeface="Arial" panose="020B0604020202020204" pitchFamily="34" charset="0"/>
              </a:rPr>
              <a:t> (many normal, few fraud).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SVM learns complex patterns from transaction features (</a:t>
            </a:r>
            <a:r>
              <a:rPr kumimoji="0" lang="en-US" altLang="en-US" sz="1400" b="0" i="0" u="none" strike="noStrike" cap="none" normalizeH="0" baseline="0" dirty="0">
                <a:ln>
                  <a:noFill/>
                </a:ln>
                <a:solidFill>
                  <a:schemeClr val="tx1"/>
                </a:solidFill>
                <a:effectLst/>
                <a:latin typeface="Arial Unicode MS"/>
              </a:rPr>
              <a:t>V1–V28</a:t>
            </a:r>
            <a:r>
              <a:rPr kumimoji="0" lang="en-US" altLang="en-US" sz="11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Amount</a:t>
            </a:r>
            <a:r>
              <a:rPr kumimoji="0" lang="en-US" altLang="en-US" sz="1100" b="0" i="0" u="none" strike="noStrike" cap="none" normalizeH="0" baseline="0" dirty="0">
                <a:ln>
                  <a:noFill/>
                </a:ln>
                <a:solidFill>
                  <a:schemeClr val="tx1"/>
                </a:solidFill>
                <a:effectLst/>
              </a:rPr>
              <a:t>, </a:t>
            </a:r>
            <a:r>
              <a:rPr lang="en-US" altLang="en-US" dirty="0"/>
              <a:t>etc</a:t>
            </a:r>
            <a:r>
              <a:rPr kumimoji="0" lang="en-US" altLang="en-US" sz="1100" b="0" i="0" u="none" strike="noStrike" cap="none" normalizeH="0" baseline="0" dirty="0">
                <a:ln>
                  <a:noFill/>
                </a:ln>
                <a:solidFill>
                  <a:schemeClr val="tx1"/>
                </a:solidFill>
                <a:effectLst/>
              </a:rPr>
              <a:t>.</a:t>
            </a:r>
            <a:r>
              <a:rPr lang="en-US" altLang="en-US" sz="2000" dirty="0"/>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Used </a:t>
            </a:r>
            <a:r>
              <a:rPr kumimoji="0" lang="en-US" altLang="en-US" sz="1800" b="1" i="0" u="none" strike="noStrike" cap="none" normalizeH="0" baseline="0" dirty="0" err="1">
                <a:ln>
                  <a:noFill/>
                </a:ln>
                <a:solidFill>
                  <a:schemeClr val="tx1"/>
                </a:solidFill>
                <a:effectLst/>
                <a:latin typeface="Arial" panose="020B0604020202020204" pitchFamily="34" charset="0"/>
              </a:rPr>
              <a:t>StandardScaler</a:t>
            </a:r>
            <a:r>
              <a:rPr kumimoji="0" lang="en-US" altLang="en-US" sz="1800" b="0" i="0" u="none" strike="noStrike" cap="none" normalizeH="0" baseline="0" dirty="0">
                <a:ln>
                  <a:noFill/>
                </a:ln>
                <a:solidFill>
                  <a:schemeClr val="tx1"/>
                </a:solidFill>
                <a:effectLst/>
                <a:latin typeface="Arial" panose="020B0604020202020204" pitchFamily="34" charset="0"/>
              </a:rPr>
              <a:t> for normalization (SVM is distance-based).</a:t>
            </a:r>
          </a:p>
        </p:txBody>
      </p:sp>
    </p:spTree>
    <p:extLst>
      <p:ext uri="{BB962C8B-B14F-4D97-AF65-F5344CB8AC3E}">
        <p14:creationId xmlns:p14="http://schemas.microsoft.com/office/powerpoint/2010/main" val="3256726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CFB5D1E-C30A-3B4D-8BA2-1E709A95BB06}"/>
              </a:ext>
            </a:extLst>
          </p:cNvPr>
          <p:cNvSpPr>
            <a:spLocks noChangeArrowheads="1"/>
          </p:cNvSpPr>
          <p:nvPr/>
        </p:nvSpPr>
        <p:spPr bwMode="auto">
          <a:xfrm>
            <a:off x="285137" y="1567687"/>
            <a:ext cx="73840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Decision Tree is a </a:t>
            </a:r>
            <a:r>
              <a:rPr kumimoji="0" lang="en-US" altLang="en-US" sz="1800" b="1" i="0" u="none" strike="noStrike" cap="none" normalizeH="0" baseline="0" dirty="0">
                <a:ln>
                  <a:noFill/>
                </a:ln>
                <a:solidFill>
                  <a:schemeClr val="tx1"/>
                </a:solidFill>
                <a:effectLst/>
                <a:latin typeface="Arial" panose="020B0604020202020204" pitchFamily="34" charset="0"/>
              </a:rPr>
              <a:t>supervised machine learning algorithm</a:t>
            </a:r>
            <a:r>
              <a:rPr kumimoji="0" lang="en-US" altLang="en-US" sz="1800" b="0" i="0" u="none" strike="noStrike" cap="none" normalizeH="0" baseline="0" dirty="0">
                <a:ln>
                  <a:noFill/>
                </a:ln>
                <a:solidFill>
                  <a:schemeClr val="tx1"/>
                </a:solidFill>
                <a:effectLst/>
                <a:latin typeface="Arial" panose="020B0604020202020204" pitchFamily="34" charset="0"/>
              </a:rPr>
              <a:t> used for </a:t>
            </a:r>
            <a:r>
              <a:rPr kumimoji="0" lang="en-US" altLang="en-US" sz="1800" b="1" i="0" u="none" strike="noStrike" cap="none" normalizeH="0" baseline="0" dirty="0">
                <a:ln>
                  <a:noFill/>
                </a:ln>
                <a:solidFill>
                  <a:schemeClr val="tx1"/>
                </a:solidFill>
                <a:effectLst/>
                <a:latin typeface="Arial" panose="020B0604020202020204" pitchFamily="34" charset="0"/>
              </a:rPr>
              <a:t>classification and regression</a:t>
            </a:r>
            <a:r>
              <a:rPr kumimoji="0" lang="en-US" altLang="en-US" sz="1800" b="0" i="0" u="none" strike="noStrike" cap="none" normalizeH="0" baseline="0" dirty="0">
                <a:ln>
                  <a:noFill/>
                </a:ln>
                <a:solidFill>
                  <a:schemeClr val="tx1"/>
                </a:solidFill>
                <a:effectLst/>
                <a:latin typeface="Arial" panose="020B0604020202020204" pitchFamily="34" charset="0"/>
              </a:rPr>
              <a:t> tasks.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works by </a:t>
            </a:r>
            <a:r>
              <a:rPr kumimoji="0" lang="en-US" altLang="en-US" sz="1800" b="1" i="0" u="none" strike="noStrike" cap="none" normalizeH="0" baseline="0" dirty="0">
                <a:ln>
                  <a:noFill/>
                </a:ln>
                <a:solidFill>
                  <a:schemeClr val="tx1"/>
                </a:solidFill>
                <a:effectLst/>
                <a:latin typeface="Arial" panose="020B0604020202020204" pitchFamily="34" charset="0"/>
              </a:rPr>
              <a:t>splitting the dataset</a:t>
            </a:r>
            <a:r>
              <a:rPr kumimoji="0" lang="en-US" altLang="en-US" sz="1800" b="0" i="0" u="none" strike="noStrike" cap="none" normalizeH="0" baseline="0" dirty="0">
                <a:ln>
                  <a:noFill/>
                </a:ln>
                <a:solidFill>
                  <a:schemeClr val="tx1"/>
                </a:solidFill>
                <a:effectLst/>
                <a:latin typeface="Arial" panose="020B0604020202020204" pitchFamily="34" charset="0"/>
              </a:rPr>
              <a:t> into smaller subsets based on </a:t>
            </a:r>
            <a:r>
              <a:rPr kumimoji="0" lang="en-US" altLang="en-US" sz="1800" b="1" i="0" u="none" strike="noStrike" cap="none" normalizeH="0" baseline="0" dirty="0">
                <a:ln>
                  <a:noFill/>
                </a:ln>
                <a:solidFill>
                  <a:schemeClr val="tx1"/>
                </a:solidFill>
                <a:effectLst/>
                <a:latin typeface="Arial" panose="020B0604020202020204" pitchFamily="34" charset="0"/>
              </a:rPr>
              <a:t>feature values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internal node represents a </a:t>
            </a:r>
            <a:r>
              <a:rPr kumimoji="0" lang="en-US" altLang="en-US" sz="1800" b="1" i="0" u="none" strike="noStrike" cap="none" normalizeH="0" baseline="0" dirty="0">
                <a:ln>
                  <a:noFill/>
                </a:ln>
                <a:solidFill>
                  <a:schemeClr val="tx1"/>
                </a:solidFill>
                <a:effectLst/>
                <a:latin typeface="Arial" panose="020B0604020202020204" pitchFamily="34" charset="0"/>
              </a:rPr>
              <a:t>decision rule</a:t>
            </a:r>
            <a:r>
              <a:rPr kumimoji="0" lang="en-US" altLang="en-US" sz="1800" b="0" i="0" u="none" strike="noStrike" cap="none" normalizeH="0" baseline="0" dirty="0">
                <a:ln>
                  <a:noFill/>
                </a:ln>
                <a:solidFill>
                  <a:schemeClr val="tx1"/>
                </a:solidFill>
                <a:effectLst/>
                <a:latin typeface="Arial" panose="020B0604020202020204" pitchFamily="34" charset="0"/>
              </a:rPr>
              <a:t>, and each leaf node represents an </a:t>
            </a:r>
            <a:r>
              <a:rPr kumimoji="0" lang="en-US" altLang="en-US" sz="1800" b="1" i="0" u="none" strike="noStrike" cap="none" normalizeH="0" baseline="0" dirty="0">
                <a:ln>
                  <a:noFill/>
                </a:ln>
                <a:solidFill>
                  <a:schemeClr val="tx1"/>
                </a:solidFill>
                <a:effectLst/>
                <a:latin typeface="Arial" panose="020B0604020202020204" pitchFamily="34" charset="0"/>
              </a:rPr>
              <a:t>outcome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model resembles a </a:t>
            </a:r>
            <a:r>
              <a:rPr kumimoji="0" lang="en-US" altLang="en-US" sz="1800" b="1" i="0" u="none" strike="noStrike" cap="none" normalizeH="0" baseline="0" dirty="0">
                <a:ln>
                  <a:noFill/>
                </a:ln>
                <a:solidFill>
                  <a:schemeClr val="tx1"/>
                </a:solidFill>
                <a:effectLst/>
                <a:latin typeface="Arial" panose="020B0604020202020204" pitchFamily="34" charset="0"/>
              </a:rPr>
              <a:t>flowchart</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making it simple and interpretable.</a:t>
            </a:r>
          </a:p>
        </p:txBody>
      </p:sp>
      <p:pic>
        <p:nvPicPr>
          <p:cNvPr id="4" name="Picture 3">
            <a:extLst>
              <a:ext uri="{FF2B5EF4-FFF2-40B4-BE49-F238E27FC236}">
                <a16:creationId xmlns:a16="http://schemas.microsoft.com/office/drawing/2014/main" id="{A44B2B59-82EB-5EDE-E793-BFA3B13122EC}"/>
              </a:ext>
            </a:extLst>
          </p:cNvPr>
          <p:cNvPicPr>
            <a:picLocks noChangeAspect="1"/>
          </p:cNvPicPr>
          <p:nvPr/>
        </p:nvPicPr>
        <p:blipFill>
          <a:blip r:embed="rId2"/>
          <a:stretch>
            <a:fillRect/>
          </a:stretch>
        </p:blipFill>
        <p:spPr>
          <a:xfrm>
            <a:off x="7555056" y="1567687"/>
            <a:ext cx="4259877" cy="4697498"/>
          </a:xfrm>
          <a:prstGeom prst="rect">
            <a:avLst/>
          </a:prstGeom>
        </p:spPr>
      </p:pic>
      <p:sp>
        <p:nvSpPr>
          <p:cNvPr id="6" name="TextBox 5">
            <a:extLst>
              <a:ext uri="{FF2B5EF4-FFF2-40B4-BE49-F238E27FC236}">
                <a16:creationId xmlns:a16="http://schemas.microsoft.com/office/drawing/2014/main" id="{E10A9027-C00C-51EE-512B-27B8BC9F8258}"/>
              </a:ext>
            </a:extLst>
          </p:cNvPr>
          <p:cNvSpPr txBox="1"/>
          <p:nvPr/>
        </p:nvSpPr>
        <p:spPr>
          <a:xfrm>
            <a:off x="285137" y="671386"/>
            <a:ext cx="4542502" cy="646331"/>
          </a:xfrm>
          <a:prstGeom prst="rect">
            <a:avLst/>
          </a:prstGeom>
          <a:noFill/>
        </p:spPr>
        <p:txBody>
          <a:bodyPr wrap="square">
            <a:spAutoFit/>
          </a:bodyPr>
          <a:lstStyle/>
          <a:p>
            <a:pPr marL="0" indent="0">
              <a:buNone/>
            </a:pPr>
            <a:r>
              <a:rPr lang="en-US" sz="3600" b="1" dirty="0"/>
              <a:t>4. Decision Tree (D.T):</a:t>
            </a:r>
          </a:p>
        </p:txBody>
      </p:sp>
      <p:sp>
        <p:nvSpPr>
          <p:cNvPr id="7" name="Rectangle 3">
            <a:extLst>
              <a:ext uri="{FF2B5EF4-FFF2-40B4-BE49-F238E27FC236}">
                <a16:creationId xmlns:a16="http://schemas.microsoft.com/office/drawing/2014/main" id="{57DF9D74-342F-1420-CCD0-F1DA51E06C86}"/>
              </a:ext>
            </a:extLst>
          </p:cNvPr>
          <p:cNvSpPr>
            <a:spLocks noChangeArrowheads="1"/>
          </p:cNvSpPr>
          <p:nvPr/>
        </p:nvSpPr>
        <p:spPr bwMode="auto">
          <a:xfrm>
            <a:off x="287013" y="4925275"/>
            <a:ext cx="738214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Root Node:</a:t>
            </a:r>
            <a:r>
              <a:rPr kumimoji="0" lang="en-US" altLang="en-US" sz="1800" b="0" i="0" u="none" strike="noStrike" cap="none" normalizeH="0" baseline="0" dirty="0">
                <a:ln>
                  <a:noFill/>
                </a:ln>
                <a:solidFill>
                  <a:schemeClr val="tx1"/>
                </a:solidFill>
                <a:effectLst/>
                <a:latin typeface="Arial" panose="020B0604020202020204" pitchFamily="34" charset="0"/>
              </a:rPr>
              <a:t> Represents the entire dataset.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Decision Node:</a:t>
            </a:r>
            <a:r>
              <a:rPr kumimoji="0" lang="en-US" altLang="en-US" sz="1800" b="0" i="0" u="none" strike="noStrike" cap="none" normalizeH="0" baseline="0" dirty="0">
                <a:ln>
                  <a:noFill/>
                </a:ln>
                <a:solidFill>
                  <a:schemeClr val="tx1"/>
                </a:solidFill>
                <a:effectLst/>
                <a:latin typeface="Arial" panose="020B0604020202020204" pitchFamily="34" charset="0"/>
              </a:rPr>
              <a:t> Splits the data based on a condition.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Leaf Node:</a:t>
            </a:r>
            <a:r>
              <a:rPr kumimoji="0" lang="en-US" altLang="en-US" sz="1800" b="0" i="0" u="none" strike="noStrike" cap="none" normalizeH="0" baseline="0" dirty="0">
                <a:ln>
                  <a:noFill/>
                </a:ln>
                <a:solidFill>
                  <a:schemeClr val="tx1"/>
                </a:solidFill>
                <a:effectLst/>
                <a:latin typeface="Arial" panose="020B0604020202020204" pitchFamily="34" charset="0"/>
              </a:rPr>
              <a:t> Final output or prediction.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Branches:</a:t>
            </a:r>
            <a:r>
              <a:rPr kumimoji="0" lang="en-US" altLang="en-US" sz="1800" b="0" i="0" u="none" strike="noStrike" cap="none" normalizeH="0" baseline="0" dirty="0">
                <a:ln>
                  <a:noFill/>
                </a:ln>
                <a:solidFill>
                  <a:schemeClr val="tx1"/>
                </a:solidFill>
                <a:effectLst/>
                <a:latin typeface="Arial" panose="020B0604020202020204" pitchFamily="34" charset="0"/>
              </a:rPr>
              <a:t> Paths connecting nodes, showing the decision process.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  Depth:</a:t>
            </a:r>
            <a:r>
              <a:rPr kumimoji="0" lang="en-US" altLang="en-US" sz="1800" b="0" i="0" u="none" strike="noStrike" cap="none" normalizeH="0" baseline="0" dirty="0">
                <a:ln>
                  <a:noFill/>
                </a:ln>
                <a:solidFill>
                  <a:schemeClr val="tx1"/>
                </a:solidFill>
                <a:effectLst/>
                <a:latin typeface="Arial" panose="020B0604020202020204" pitchFamily="34" charset="0"/>
              </a:rPr>
              <a:t> Number of levels in the tree.</a:t>
            </a:r>
          </a:p>
        </p:txBody>
      </p:sp>
    </p:spTree>
    <p:extLst>
      <p:ext uri="{BB962C8B-B14F-4D97-AF65-F5344CB8AC3E}">
        <p14:creationId xmlns:p14="http://schemas.microsoft.com/office/powerpoint/2010/main" val="365136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DD0986-C8A9-30EE-8B93-C6993AA23016}"/>
              </a:ext>
            </a:extLst>
          </p:cNvPr>
          <p:cNvPicPr>
            <a:picLocks noChangeAspect="1"/>
          </p:cNvPicPr>
          <p:nvPr/>
        </p:nvPicPr>
        <p:blipFill>
          <a:blip r:embed="rId2"/>
          <a:stretch>
            <a:fillRect/>
          </a:stretch>
        </p:blipFill>
        <p:spPr>
          <a:xfrm>
            <a:off x="617062" y="1875195"/>
            <a:ext cx="7064352" cy="914479"/>
          </a:xfrm>
          <a:prstGeom prst="rect">
            <a:avLst/>
          </a:prstGeom>
        </p:spPr>
      </p:pic>
      <p:pic>
        <p:nvPicPr>
          <p:cNvPr id="5" name="Picture 4">
            <a:extLst>
              <a:ext uri="{FF2B5EF4-FFF2-40B4-BE49-F238E27FC236}">
                <a16:creationId xmlns:a16="http://schemas.microsoft.com/office/drawing/2014/main" id="{FD05150D-C054-9C09-B3AA-5FAC1711DD1E}"/>
              </a:ext>
            </a:extLst>
          </p:cNvPr>
          <p:cNvPicPr>
            <a:picLocks noChangeAspect="1"/>
          </p:cNvPicPr>
          <p:nvPr/>
        </p:nvPicPr>
        <p:blipFill>
          <a:blip r:embed="rId3"/>
          <a:stretch>
            <a:fillRect/>
          </a:stretch>
        </p:blipFill>
        <p:spPr>
          <a:xfrm>
            <a:off x="617062" y="2946501"/>
            <a:ext cx="8992379" cy="1265030"/>
          </a:xfrm>
          <a:prstGeom prst="rect">
            <a:avLst/>
          </a:prstGeom>
        </p:spPr>
      </p:pic>
      <p:pic>
        <p:nvPicPr>
          <p:cNvPr id="7" name="Picture 6">
            <a:extLst>
              <a:ext uri="{FF2B5EF4-FFF2-40B4-BE49-F238E27FC236}">
                <a16:creationId xmlns:a16="http://schemas.microsoft.com/office/drawing/2014/main" id="{F1F500D9-D9A2-DF1C-1D2A-1078134639A5}"/>
              </a:ext>
            </a:extLst>
          </p:cNvPr>
          <p:cNvPicPr>
            <a:picLocks noChangeAspect="1"/>
          </p:cNvPicPr>
          <p:nvPr/>
        </p:nvPicPr>
        <p:blipFill>
          <a:blip r:embed="rId4"/>
          <a:stretch>
            <a:fillRect/>
          </a:stretch>
        </p:blipFill>
        <p:spPr>
          <a:xfrm>
            <a:off x="617062" y="4525184"/>
            <a:ext cx="8900931" cy="891617"/>
          </a:xfrm>
          <a:prstGeom prst="rect">
            <a:avLst/>
          </a:prstGeom>
        </p:spPr>
      </p:pic>
      <p:pic>
        <p:nvPicPr>
          <p:cNvPr id="9" name="Picture 8">
            <a:extLst>
              <a:ext uri="{FF2B5EF4-FFF2-40B4-BE49-F238E27FC236}">
                <a16:creationId xmlns:a16="http://schemas.microsoft.com/office/drawing/2014/main" id="{E9279803-966C-6287-68FD-C977098234A1}"/>
              </a:ext>
            </a:extLst>
          </p:cNvPr>
          <p:cNvPicPr>
            <a:picLocks noChangeAspect="1"/>
          </p:cNvPicPr>
          <p:nvPr/>
        </p:nvPicPr>
        <p:blipFill>
          <a:blip r:embed="rId5"/>
          <a:stretch>
            <a:fillRect/>
          </a:stretch>
        </p:blipFill>
        <p:spPr>
          <a:xfrm>
            <a:off x="617062" y="5730454"/>
            <a:ext cx="8641829" cy="777307"/>
          </a:xfrm>
          <a:prstGeom prst="rect">
            <a:avLst/>
          </a:prstGeom>
        </p:spPr>
      </p:pic>
      <p:sp>
        <p:nvSpPr>
          <p:cNvPr id="11" name="TextBox 10">
            <a:extLst>
              <a:ext uri="{FF2B5EF4-FFF2-40B4-BE49-F238E27FC236}">
                <a16:creationId xmlns:a16="http://schemas.microsoft.com/office/drawing/2014/main" id="{015A633F-0EF7-0A88-028F-10025D4C3591}"/>
              </a:ext>
            </a:extLst>
          </p:cNvPr>
          <p:cNvSpPr txBox="1"/>
          <p:nvPr/>
        </p:nvSpPr>
        <p:spPr>
          <a:xfrm>
            <a:off x="617062" y="236599"/>
            <a:ext cx="11769213" cy="1200329"/>
          </a:xfrm>
          <a:prstGeom prst="rect">
            <a:avLst/>
          </a:prstGeom>
          <a:noFill/>
        </p:spPr>
        <p:txBody>
          <a:bodyPr wrap="square">
            <a:spAutoFit/>
          </a:bodyPr>
          <a:lstStyle/>
          <a:p>
            <a:r>
              <a:rPr lang="en-US" altLang="en-US" sz="3600" b="1" dirty="0">
                <a:latin typeface="Arial" panose="020B0604020202020204" pitchFamily="34" charset="0"/>
              </a:rPr>
              <a:t>Accuracy, Precision, Recall, F1-Score  for Under-sampling:</a:t>
            </a:r>
            <a:endParaRPr lang="en-IN" sz="3600" dirty="0"/>
          </a:p>
        </p:txBody>
      </p:sp>
    </p:spTree>
    <p:extLst>
      <p:ext uri="{BB962C8B-B14F-4D97-AF65-F5344CB8AC3E}">
        <p14:creationId xmlns:p14="http://schemas.microsoft.com/office/powerpoint/2010/main" val="2015739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CE28F1-488C-C4F8-1F44-10688A617829}"/>
              </a:ext>
            </a:extLst>
          </p:cNvPr>
          <p:cNvPicPr>
            <a:picLocks noChangeAspect="1"/>
          </p:cNvPicPr>
          <p:nvPr/>
        </p:nvPicPr>
        <p:blipFill>
          <a:blip r:embed="rId2"/>
          <a:stretch>
            <a:fillRect/>
          </a:stretch>
        </p:blipFill>
        <p:spPr>
          <a:xfrm>
            <a:off x="540775" y="2037758"/>
            <a:ext cx="7071973" cy="807790"/>
          </a:xfrm>
          <a:prstGeom prst="rect">
            <a:avLst/>
          </a:prstGeom>
        </p:spPr>
      </p:pic>
      <p:pic>
        <p:nvPicPr>
          <p:cNvPr id="5" name="Picture 4">
            <a:extLst>
              <a:ext uri="{FF2B5EF4-FFF2-40B4-BE49-F238E27FC236}">
                <a16:creationId xmlns:a16="http://schemas.microsoft.com/office/drawing/2014/main" id="{579D5F49-25BB-2B3F-F9A6-0D2CA342AAF4}"/>
              </a:ext>
            </a:extLst>
          </p:cNvPr>
          <p:cNvPicPr>
            <a:picLocks noChangeAspect="1"/>
          </p:cNvPicPr>
          <p:nvPr/>
        </p:nvPicPr>
        <p:blipFill>
          <a:blip r:embed="rId3"/>
          <a:stretch>
            <a:fillRect/>
          </a:stretch>
        </p:blipFill>
        <p:spPr>
          <a:xfrm>
            <a:off x="540775" y="3429000"/>
            <a:ext cx="8161727" cy="853514"/>
          </a:xfrm>
          <a:prstGeom prst="rect">
            <a:avLst/>
          </a:prstGeom>
        </p:spPr>
      </p:pic>
      <p:pic>
        <p:nvPicPr>
          <p:cNvPr id="7" name="Picture 6">
            <a:extLst>
              <a:ext uri="{FF2B5EF4-FFF2-40B4-BE49-F238E27FC236}">
                <a16:creationId xmlns:a16="http://schemas.microsoft.com/office/drawing/2014/main" id="{CE1F0D0A-2836-D1A8-148B-12A3B13AECEB}"/>
              </a:ext>
            </a:extLst>
          </p:cNvPr>
          <p:cNvPicPr>
            <a:picLocks noChangeAspect="1"/>
          </p:cNvPicPr>
          <p:nvPr/>
        </p:nvPicPr>
        <p:blipFill>
          <a:blip r:embed="rId4"/>
          <a:stretch>
            <a:fillRect/>
          </a:stretch>
        </p:blipFill>
        <p:spPr>
          <a:xfrm>
            <a:off x="540775" y="4574101"/>
            <a:ext cx="7643522" cy="792549"/>
          </a:xfrm>
          <a:prstGeom prst="rect">
            <a:avLst/>
          </a:prstGeom>
        </p:spPr>
      </p:pic>
      <p:pic>
        <p:nvPicPr>
          <p:cNvPr id="9" name="Picture 8">
            <a:extLst>
              <a:ext uri="{FF2B5EF4-FFF2-40B4-BE49-F238E27FC236}">
                <a16:creationId xmlns:a16="http://schemas.microsoft.com/office/drawing/2014/main" id="{874438E0-5648-BF94-211F-A457C28CE7F4}"/>
              </a:ext>
            </a:extLst>
          </p:cNvPr>
          <p:cNvPicPr>
            <a:picLocks noChangeAspect="1"/>
          </p:cNvPicPr>
          <p:nvPr/>
        </p:nvPicPr>
        <p:blipFill>
          <a:blip r:embed="rId5"/>
          <a:stretch>
            <a:fillRect/>
          </a:stretch>
        </p:blipFill>
        <p:spPr>
          <a:xfrm>
            <a:off x="462651" y="5725764"/>
            <a:ext cx="7567316" cy="899238"/>
          </a:xfrm>
          <a:prstGeom prst="rect">
            <a:avLst/>
          </a:prstGeom>
        </p:spPr>
      </p:pic>
      <p:sp>
        <p:nvSpPr>
          <p:cNvPr id="11" name="TextBox 10">
            <a:extLst>
              <a:ext uri="{FF2B5EF4-FFF2-40B4-BE49-F238E27FC236}">
                <a16:creationId xmlns:a16="http://schemas.microsoft.com/office/drawing/2014/main" id="{51B3D3F1-840F-33E6-F6FA-EEFB841FD83B}"/>
              </a:ext>
            </a:extLst>
          </p:cNvPr>
          <p:cNvSpPr txBox="1"/>
          <p:nvPr/>
        </p:nvSpPr>
        <p:spPr>
          <a:xfrm>
            <a:off x="540775" y="232998"/>
            <a:ext cx="11326760" cy="1200329"/>
          </a:xfrm>
          <a:prstGeom prst="rect">
            <a:avLst/>
          </a:prstGeom>
          <a:noFill/>
        </p:spPr>
        <p:txBody>
          <a:bodyPr wrap="square">
            <a:spAutoFit/>
          </a:bodyPr>
          <a:lstStyle/>
          <a:p>
            <a:r>
              <a:rPr lang="en-US" altLang="en-US" sz="3600" b="1" dirty="0">
                <a:latin typeface="Arial" panose="020B0604020202020204" pitchFamily="34" charset="0"/>
              </a:rPr>
              <a:t>Accuracy, Precision, Recall, F1-Score  for Oversampling:</a:t>
            </a:r>
            <a:endParaRPr lang="en-IN" sz="3600" dirty="0"/>
          </a:p>
        </p:txBody>
      </p:sp>
    </p:spTree>
    <p:extLst>
      <p:ext uri="{BB962C8B-B14F-4D97-AF65-F5344CB8AC3E}">
        <p14:creationId xmlns:p14="http://schemas.microsoft.com/office/powerpoint/2010/main" val="2975900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3264-2E6C-EE32-555B-AA02FB3B6C14}"/>
              </a:ext>
            </a:extLst>
          </p:cNvPr>
          <p:cNvSpPr>
            <a:spLocks noGrp="1"/>
          </p:cNvSpPr>
          <p:nvPr>
            <p:ph type="title"/>
          </p:nvPr>
        </p:nvSpPr>
        <p:spPr/>
        <p:txBody>
          <a:bodyPr/>
          <a:lstStyle/>
          <a:p>
            <a:r>
              <a:rPr lang="en-US" u="sng" dirty="0"/>
              <a:t>References</a:t>
            </a:r>
            <a:r>
              <a:rPr lang="en-US" dirty="0"/>
              <a:t>:</a:t>
            </a:r>
          </a:p>
        </p:txBody>
      </p:sp>
      <p:sp>
        <p:nvSpPr>
          <p:cNvPr id="3" name="Content Placeholder 2">
            <a:extLst>
              <a:ext uri="{FF2B5EF4-FFF2-40B4-BE49-F238E27FC236}">
                <a16:creationId xmlns:a16="http://schemas.microsoft.com/office/drawing/2014/main" id="{7936F3AF-D4B4-A5A6-2D6C-DD86E46278D9}"/>
              </a:ext>
            </a:extLst>
          </p:cNvPr>
          <p:cNvSpPr>
            <a:spLocks noGrp="1"/>
          </p:cNvSpPr>
          <p:nvPr>
            <p:ph idx="1"/>
          </p:nvPr>
        </p:nvSpPr>
        <p:spPr>
          <a:xfrm>
            <a:off x="838200" y="1825625"/>
            <a:ext cx="10515600" cy="4667250"/>
          </a:xfrm>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[1] . A. N. O. </a:t>
            </a:r>
            <a:r>
              <a:rPr lang="en-US" sz="1200" dirty="0" err="1">
                <a:latin typeface="Times New Roman" panose="02020603050405020304" pitchFamily="18" charset="0"/>
                <a:cs typeface="Times New Roman" panose="02020603050405020304" pitchFamily="18" charset="0"/>
              </a:rPr>
              <a:t>Alenzi</a:t>
            </a:r>
            <a:r>
              <a:rPr lang="en-US" sz="1200" dirty="0">
                <a:latin typeface="Times New Roman" panose="02020603050405020304" pitchFamily="18" charset="0"/>
                <a:cs typeface="Times New Roman" panose="02020603050405020304" pitchFamily="18" charset="0"/>
              </a:rPr>
              <a:t>, H. Z., “Fraud detection in credit cards using logistic regression. </a:t>
            </a:r>
          </a:p>
          <a:p>
            <a:pPr marL="0" indent="0">
              <a:buNone/>
            </a:pPr>
            <a:r>
              <a:rPr lang="en-US"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https://thesai.org/Publications/ViewPaper?Volume=11&amp;Issue=</a:t>
            </a:r>
            <a:r>
              <a:rPr lang="en-US" sz="1200" dirty="0">
                <a:latin typeface="Times New Roman" panose="02020603050405020304" pitchFamily="18" charset="0"/>
                <a:cs typeface="Times New Roman" panose="02020603050405020304" pitchFamily="18" charset="0"/>
              </a:rPr>
              <a:t> 12&amp;Code=</a:t>
            </a:r>
            <a:r>
              <a:rPr lang="en-US" sz="1200" dirty="0" err="1">
                <a:latin typeface="Times New Roman" panose="02020603050405020304" pitchFamily="18" charset="0"/>
                <a:cs typeface="Times New Roman" panose="02020603050405020304" pitchFamily="18" charset="0"/>
              </a:rPr>
              <a:t>IJACSA&amp;SerialNo</a:t>
            </a:r>
            <a:r>
              <a:rPr lang="en-US" sz="1200" dirty="0">
                <a:latin typeface="Times New Roman" panose="02020603050405020304" pitchFamily="18" charset="0"/>
                <a:cs typeface="Times New Roman" panose="02020603050405020304" pitchFamily="18" charset="0"/>
              </a:rPr>
              <a:t>=65, 2020</a:t>
            </a:r>
          </a:p>
          <a:p>
            <a:pPr marL="0" indent="0">
              <a:buNone/>
            </a:pPr>
            <a:r>
              <a:rPr lang="en-US" sz="1200" dirty="0">
                <a:latin typeface="Times New Roman" panose="02020603050405020304" pitchFamily="18" charset="0"/>
                <a:cs typeface="Times New Roman" panose="02020603050405020304" pitchFamily="18" charset="0"/>
              </a:rPr>
              <a:t>[2]. P. S. . K. S. </a:t>
            </a:r>
            <a:r>
              <a:rPr lang="en-US" sz="1200" dirty="0" err="1">
                <a:latin typeface="Times New Roman" panose="02020603050405020304" pitchFamily="18" charset="0"/>
                <a:cs typeface="Times New Roman" panose="02020603050405020304" pitchFamily="18" charset="0"/>
              </a:rPr>
              <a:t>Dighe</a:t>
            </a:r>
            <a:r>
              <a:rPr lang="en-US" sz="1200" dirty="0">
                <a:latin typeface="Times New Roman" panose="02020603050405020304" pitchFamily="18" charset="0"/>
                <a:cs typeface="Times New Roman" panose="02020603050405020304" pitchFamily="18" charset="0"/>
              </a:rPr>
              <a:t>, D., “Detection of credit card fraud transactions using machine learning algorithms and neural networks.” </a:t>
            </a:r>
          </a:p>
          <a:p>
            <a:pPr marL="0" indent="0">
              <a:buNone/>
            </a:pPr>
            <a:r>
              <a:rPr lang="en-US" sz="1200" dirty="0">
                <a:latin typeface="Times New Roman" panose="02020603050405020304" pitchFamily="18" charset="0"/>
                <a:cs typeface="Times New Roman" panose="02020603050405020304" pitchFamily="18" charset="0"/>
              </a:rPr>
              <a:t>       https://doi.org/10.1109/iccubea. </a:t>
            </a:r>
          </a:p>
          <a:p>
            <a:pPr marL="0" indent="0">
              <a:buNone/>
            </a:pPr>
            <a:r>
              <a:rPr lang="en-US" sz="1200" dirty="0">
                <a:latin typeface="Times New Roman" panose="02020603050405020304" pitchFamily="18" charset="0"/>
                <a:cs typeface="Times New Roman" panose="02020603050405020304" pitchFamily="18" charset="0"/>
              </a:rPr>
              <a:t>[3] . D. E. . </a:t>
            </a:r>
            <a:r>
              <a:rPr lang="en-US" sz="1200" dirty="0" err="1">
                <a:latin typeface="Times New Roman" panose="02020603050405020304" pitchFamily="18" charset="0"/>
                <a:cs typeface="Times New Roman" panose="02020603050405020304" pitchFamily="18" charset="0"/>
              </a:rPr>
              <a:t>Sahin</a:t>
            </a:r>
            <a:r>
              <a:rPr lang="en-US" sz="1200" dirty="0">
                <a:latin typeface="Times New Roman" panose="02020603050405020304" pitchFamily="18" charset="0"/>
                <a:cs typeface="Times New Roman" panose="02020603050405020304" pitchFamily="18" charset="0"/>
              </a:rPr>
              <a:t>, Y., “Detecting credit card fraud by decision trees and support vector machines,” 2011. Accessed: 23-oct-2023.</a:t>
            </a:r>
          </a:p>
          <a:p>
            <a:pPr marL="0" indent="0">
              <a:buNone/>
            </a:pPr>
            <a:r>
              <a:rPr lang="en-US" sz="1200" dirty="0">
                <a:latin typeface="Times New Roman" panose="02020603050405020304" pitchFamily="18" charset="0"/>
                <a:cs typeface="Times New Roman" panose="02020603050405020304" pitchFamily="18" charset="0"/>
              </a:rPr>
              <a:t>[4] . S. A. A. S. . S. S. D. </a:t>
            </a:r>
            <a:r>
              <a:rPr lang="en-US" sz="1200" dirty="0" err="1">
                <a:latin typeface="Times New Roman" panose="02020603050405020304" pitchFamily="18" charset="0"/>
                <a:cs typeface="Times New Roman" panose="02020603050405020304" pitchFamily="18" charset="0"/>
              </a:rPr>
              <a:t>Maniraj</a:t>
            </a:r>
            <a:r>
              <a:rPr lang="en-US" sz="1200" dirty="0">
                <a:latin typeface="Times New Roman" panose="02020603050405020304" pitchFamily="18" charset="0"/>
                <a:cs typeface="Times New Roman" panose="02020603050405020304" pitchFamily="18" charset="0"/>
              </a:rPr>
              <a:t>, S. P., “Credit card fraud detection using machine learning and data science.” </a:t>
            </a:r>
          </a:p>
          <a:p>
            <a:pPr marL="0" indent="0">
              <a:buNone/>
            </a:pPr>
            <a:r>
              <a:rPr lang="en-US" sz="1200" dirty="0">
                <a:latin typeface="Times New Roman" panose="02020603050405020304" pitchFamily="18" charset="0"/>
                <a:cs typeface="Times New Roman" panose="02020603050405020304" pitchFamily="18" charset="0"/>
              </a:rPr>
              <a:t>        https://doi.org/10.17577/ijertv8is090031, 2019. Accessed: 25-oct-2023.</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47326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3A7F211-C3DA-62E5-0F5A-D36550FCBB34}"/>
              </a:ext>
            </a:extLst>
          </p:cNvPr>
          <p:cNvSpPr txBox="1"/>
          <p:nvPr/>
        </p:nvSpPr>
        <p:spPr>
          <a:xfrm>
            <a:off x="4041304" y="3072335"/>
            <a:ext cx="3710940" cy="1015663"/>
          </a:xfrm>
          <a:prstGeom prst="rect">
            <a:avLst/>
          </a:prstGeom>
          <a:noFill/>
        </p:spPr>
        <p:txBody>
          <a:bodyPr wrap="square" rtlCol="0">
            <a:spAutoFit/>
          </a:bodyPr>
          <a:lstStyle/>
          <a:p>
            <a:r>
              <a:rPr lang="en-US" sz="6000" dirty="0"/>
              <a:t>Thank You!</a:t>
            </a:r>
          </a:p>
        </p:txBody>
      </p:sp>
    </p:spTree>
    <p:extLst>
      <p:ext uri="{BB962C8B-B14F-4D97-AF65-F5344CB8AC3E}">
        <p14:creationId xmlns:p14="http://schemas.microsoft.com/office/powerpoint/2010/main" val="4224308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1663</TotalTime>
  <Words>1494</Words>
  <Application>Microsoft Office PowerPoint</Application>
  <PresentationFormat>Widescreen</PresentationFormat>
  <Paragraphs>143</Paragraphs>
  <Slides>23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-apple-system</vt:lpstr>
      <vt:lpstr>Arial</vt:lpstr>
      <vt:lpstr>Arial Unicode MS</vt:lpstr>
      <vt:lpstr>Bell MT</vt:lpstr>
      <vt:lpstr>Bodoni MT Black</vt:lpstr>
      <vt:lpstr>Calibri</vt:lpstr>
      <vt:lpstr>Calibri Light</vt:lpstr>
      <vt:lpstr>Times New Roman</vt:lpstr>
      <vt:lpstr>Office Theme</vt:lpstr>
      <vt:lpstr>Credit Card Fraud Detection Using Machine Learning </vt:lpstr>
      <vt:lpstr>Overview</vt:lpstr>
      <vt:lpstr>Data Description</vt:lpstr>
      <vt:lpstr>Data Analysis </vt:lpstr>
      <vt:lpstr>PowerPoint Presentation</vt:lpstr>
      <vt:lpstr>PowerPoint Presentation</vt:lpstr>
      <vt:lpstr>PowerPoint Presentation</vt:lpstr>
      <vt:lpstr>Under-Sampling of Data Before And After:</vt:lpstr>
      <vt:lpstr>Methodology</vt:lpstr>
      <vt:lpstr>1. K-Nearest Neighbor (KNN):</vt:lpstr>
      <vt:lpstr>PowerPoint Presentation</vt:lpstr>
      <vt:lpstr>PowerPoint Presentation</vt:lpstr>
      <vt:lpstr>2. Logistic Regression (L.R.):</vt:lpstr>
      <vt:lpstr>PowerPoint Presentation</vt:lpstr>
      <vt:lpstr>PowerPoint Presentation</vt:lpstr>
      <vt:lpstr>3. Support Vector Machine (SVM):</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dc:title>
  <dc:creator>Nahidul Islam</dc:creator>
  <cp:lastModifiedBy>SANDEEP GUPTA</cp:lastModifiedBy>
  <cp:revision>3</cp:revision>
  <dcterms:created xsi:type="dcterms:W3CDTF">2023-11-01T12:10:59Z</dcterms:created>
  <dcterms:modified xsi:type="dcterms:W3CDTF">2025-11-10T06:58:56Z</dcterms:modified>
</cp:coreProperties>
</file>